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-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5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74" Type="http://schemas.openxmlformats.org/officeDocument/2006/relationships/image" Target="../media/image72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8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6.png"/><Relationship Id="rId5" Type="http://schemas.openxmlformats.org/officeDocument/2006/relationships/image" Target="../media/image91.png"/><Relationship Id="rId10" Type="http://schemas.openxmlformats.org/officeDocument/2006/relationships/image" Target="../media/image95.png"/><Relationship Id="rId4" Type="http://schemas.openxmlformats.org/officeDocument/2006/relationships/image" Target="../media/image90.png"/><Relationship Id="rId9" Type="http://schemas.openxmlformats.org/officeDocument/2006/relationships/image" Target="../media/image7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89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89.png"/><Relationship Id="rId21" Type="http://schemas.openxmlformats.org/officeDocument/2006/relationships/image" Target="../media/image140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24" Type="http://schemas.openxmlformats.org/officeDocument/2006/relationships/image" Target="../media/image143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23" Type="http://schemas.openxmlformats.org/officeDocument/2006/relationships/image" Target="../media/image142.png"/><Relationship Id="rId10" Type="http://schemas.openxmlformats.org/officeDocument/2006/relationships/image" Target="../media/image129.png"/><Relationship Id="rId19" Type="http://schemas.openxmlformats.org/officeDocument/2006/relationships/image" Target="../media/image138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" Type="http://schemas.openxmlformats.org/officeDocument/2006/relationships/image" Target="../media/image89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33" Type="http://schemas.openxmlformats.org/officeDocument/2006/relationships/image" Target="../media/image17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29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32" Type="http://schemas.openxmlformats.org/officeDocument/2006/relationships/image" Target="../media/image172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31" Type="http://schemas.openxmlformats.org/officeDocument/2006/relationships/image" Target="../media/image171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Relationship Id="rId30" Type="http://schemas.openxmlformats.org/officeDocument/2006/relationships/image" Target="../media/image170.png"/><Relationship Id="rId8" Type="http://schemas.openxmlformats.org/officeDocument/2006/relationships/image" Target="../media/image1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3" Type="http://schemas.openxmlformats.org/officeDocument/2006/relationships/image" Target="../media/image89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199.png"/><Relationship Id="rId3" Type="http://schemas.openxmlformats.org/officeDocument/2006/relationships/image" Target="../media/image89.png"/><Relationship Id="rId21" Type="http://schemas.openxmlformats.org/officeDocument/2006/relationships/image" Target="../media/image202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7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5" Type="http://schemas.openxmlformats.org/officeDocument/2006/relationships/image" Target="../media/image196.png"/><Relationship Id="rId10" Type="http://schemas.openxmlformats.org/officeDocument/2006/relationships/image" Target="../media/image191.png"/><Relationship Id="rId19" Type="http://schemas.openxmlformats.org/officeDocument/2006/relationships/image" Target="../media/image200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Relationship Id="rId22" Type="http://schemas.openxmlformats.org/officeDocument/2006/relationships/image" Target="../media/image20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3" Type="http://schemas.openxmlformats.org/officeDocument/2006/relationships/image" Target="../media/image89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89.png"/><Relationship Id="rId7" Type="http://schemas.openxmlformats.org/officeDocument/2006/relationships/image" Target="../media/image220.png"/><Relationship Id="rId12" Type="http://schemas.openxmlformats.org/officeDocument/2006/relationships/image" Target="../media/image2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11" Type="http://schemas.openxmlformats.org/officeDocument/2006/relationships/image" Target="../media/image224.png"/><Relationship Id="rId5" Type="http://schemas.openxmlformats.org/officeDocument/2006/relationships/image" Target="../media/image218.png"/><Relationship Id="rId10" Type="http://schemas.openxmlformats.org/officeDocument/2006/relationships/image" Target="../media/image223.png"/><Relationship Id="rId4" Type="http://schemas.openxmlformats.org/officeDocument/2006/relationships/image" Target="../media/image217.png"/><Relationship Id="rId9" Type="http://schemas.openxmlformats.org/officeDocument/2006/relationships/image" Target="../media/image2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35.png"/><Relationship Id="rId3" Type="http://schemas.openxmlformats.org/officeDocument/2006/relationships/image" Target="../media/image89.png"/><Relationship Id="rId7" Type="http://schemas.openxmlformats.org/officeDocument/2006/relationships/image" Target="../media/image229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5" Type="http://schemas.openxmlformats.org/officeDocument/2006/relationships/image" Target="../media/image23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18" Type="http://schemas.openxmlformats.org/officeDocument/2006/relationships/image" Target="../media/image255.png"/><Relationship Id="rId3" Type="http://schemas.openxmlformats.org/officeDocument/2006/relationships/image" Target="../media/image240.png"/><Relationship Id="rId21" Type="http://schemas.openxmlformats.org/officeDocument/2006/relationships/image" Target="../media/image258.png"/><Relationship Id="rId7" Type="http://schemas.openxmlformats.org/officeDocument/2006/relationships/image" Target="../media/image244.png"/><Relationship Id="rId12" Type="http://schemas.openxmlformats.org/officeDocument/2006/relationships/image" Target="../media/image249.png"/><Relationship Id="rId17" Type="http://schemas.openxmlformats.org/officeDocument/2006/relationships/image" Target="../media/image25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53.png"/><Relationship Id="rId20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5" Type="http://schemas.openxmlformats.org/officeDocument/2006/relationships/image" Target="../media/image252.png"/><Relationship Id="rId10" Type="http://schemas.openxmlformats.org/officeDocument/2006/relationships/image" Target="../media/image247.png"/><Relationship Id="rId19" Type="http://schemas.openxmlformats.org/officeDocument/2006/relationships/image" Target="../media/image256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Relationship Id="rId14" Type="http://schemas.openxmlformats.org/officeDocument/2006/relationships/image" Target="../media/image251.png"/><Relationship Id="rId22" Type="http://schemas.openxmlformats.org/officeDocument/2006/relationships/image" Target="../media/image2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image" Target="../media/image268.png"/><Relationship Id="rId18" Type="http://schemas.openxmlformats.org/officeDocument/2006/relationships/image" Target="../media/image273.png"/><Relationship Id="rId3" Type="http://schemas.openxmlformats.org/officeDocument/2006/relationships/image" Target="../media/image89.png"/><Relationship Id="rId21" Type="http://schemas.openxmlformats.org/officeDocument/2006/relationships/image" Target="../media/image276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17" Type="http://schemas.openxmlformats.org/officeDocument/2006/relationships/image" Target="../media/image27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71.png"/><Relationship Id="rId20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260.png"/><Relationship Id="rId15" Type="http://schemas.openxmlformats.org/officeDocument/2006/relationships/image" Target="../media/image270.png"/><Relationship Id="rId10" Type="http://schemas.openxmlformats.org/officeDocument/2006/relationships/image" Target="../media/image265.png"/><Relationship Id="rId19" Type="http://schemas.openxmlformats.org/officeDocument/2006/relationships/image" Target="../media/image274.png"/><Relationship Id="rId4" Type="http://schemas.openxmlformats.org/officeDocument/2006/relationships/image" Target="../media/image144.png"/><Relationship Id="rId9" Type="http://schemas.openxmlformats.org/officeDocument/2006/relationships/image" Target="../media/image264.png"/><Relationship Id="rId14" Type="http://schemas.openxmlformats.org/officeDocument/2006/relationships/image" Target="../media/image269.png"/><Relationship Id="rId22" Type="http://schemas.openxmlformats.org/officeDocument/2006/relationships/image" Target="../media/image2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3" Type="http://schemas.openxmlformats.org/officeDocument/2006/relationships/image" Target="../media/image89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5" Type="http://schemas.openxmlformats.org/officeDocument/2006/relationships/image" Target="../media/image279.png"/><Relationship Id="rId10" Type="http://schemas.openxmlformats.org/officeDocument/2006/relationships/image" Target="../media/image284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13" Type="http://schemas.openxmlformats.org/officeDocument/2006/relationships/image" Target="../media/image298.png"/><Relationship Id="rId3" Type="http://schemas.openxmlformats.org/officeDocument/2006/relationships/image" Target="../media/image89.png"/><Relationship Id="rId7" Type="http://schemas.openxmlformats.org/officeDocument/2006/relationships/image" Target="../media/image292.png"/><Relationship Id="rId12" Type="http://schemas.openxmlformats.org/officeDocument/2006/relationships/image" Target="../media/image29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296.png"/><Relationship Id="rId5" Type="http://schemas.openxmlformats.org/officeDocument/2006/relationships/image" Target="../media/image290.png"/><Relationship Id="rId15" Type="http://schemas.openxmlformats.org/officeDocument/2006/relationships/image" Target="../media/image300.png"/><Relationship Id="rId10" Type="http://schemas.openxmlformats.org/officeDocument/2006/relationships/image" Target="../media/image295.png"/><Relationship Id="rId4" Type="http://schemas.openxmlformats.org/officeDocument/2006/relationships/image" Target="../media/image289.png"/><Relationship Id="rId9" Type="http://schemas.openxmlformats.org/officeDocument/2006/relationships/image" Target="../media/image294.png"/><Relationship Id="rId14" Type="http://schemas.openxmlformats.org/officeDocument/2006/relationships/image" Target="../media/image29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11.png"/><Relationship Id="rId3" Type="http://schemas.openxmlformats.org/officeDocument/2006/relationships/image" Target="../media/image89.png"/><Relationship Id="rId7" Type="http://schemas.openxmlformats.org/officeDocument/2006/relationships/image" Target="../media/image305.png"/><Relationship Id="rId12" Type="http://schemas.openxmlformats.org/officeDocument/2006/relationships/image" Target="../media/image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4.png"/><Relationship Id="rId11" Type="http://schemas.openxmlformats.org/officeDocument/2006/relationships/image" Target="../media/image309.png"/><Relationship Id="rId5" Type="http://schemas.openxmlformats.org/officeDocument/2006/relationships/image" Target="../media/image303.png"/><Relationship Id="rId15" Type="http://schemas.openxmlformats.org/officeDocument/2006/relationships/image" Target="../media/image313.png"/><Relationship Id="rId10" Type="http://schemas.openxmlformats.org/officeDocument/2006/relationships/image" Target="../media/image308.png"/><Relationship Id="rId4" Type="http://schemas.openxmlformats.org/officeDocument/2006/relationships/image" Target="../media/image302.png"/><Relationship Id="rId9" Type="http://schemas.openxmlformats.org/officeDocument/2006/relationships/image" Target="../media/image307.png"/><Relationship Id="rId14" Type="http://schemas.openxmlformats.org/officeDocument/2006/relationships/image" Target="../media/image3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89.png"/><Relationship Id="rId7" Type="http://schemas.openxmlformats.org/officeDocument/2006/relationships/image" Target="../media/image316.png"/><Relationship Id="rId12" Type="http://schemas.openxmlformats.org/officeDocument/2006/relationships/image" Target="../media/image3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5.png"/><Relationship Id="rId11" Type="http://schemas.openxmlformats.org/officeDocument/2006/relationships/image" Target="../media/image320.png"/><Relationship Id="rId5" Type="http://schemas.openxmlformats.org/officeDocument/2006/relationships/image" Target="../media/image314.png"/><Relationship Id="rId10" Type="http://schemas.openxmlformats.org/officeDocument/2006/relationships/image" Target="../media/image319.png"/><Relationship Id="rId4" Type="http://schemas.openxmlformats.org/officeDocument/2006/relationships/image" Target="../media/image2.png"/><Relationship Id="rId9" Type="http://schemas.openxmlformats.org/officeDocument/2006/relationships/image" Target="../media/image3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026" y="627162"/>
            <a:ext cx="381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847" y="5948065"/>
            <a:ext cx="381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4096" y="1987748"/>
            <a:ext cx="381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3" y="4427786"/>
            <a:ext cx="381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8630" y="5378648"/>
            <a:ext cx="381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4437" y="538907"/>
            <a:ext cx="381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2459" y="1884759"/>
            <a:ext cx="381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93091" y="6226820"/>
            <a:ext cx="381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0094" y="4829770"/>
            <a:ext cx="381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060" y="612725"/>
            <a:ext cx="381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6482" y="1280964"/>
            <a:ext cx="381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49364" y="6569125"/>
            <a:ext cx="381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4255" y="6511826"/>
            <a:ext cx="38100" cy="38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516" y="5979170"/>
            <a:ext cx="381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90672" y="5559326"/>
            <a:ext cx="381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65603" y="5236666"/>
            <a:ext cx="38100" cy="38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88622" y="6587579"/>
            <a:ext cx="38100" cy="38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704141" y="1797100"/>
            <a:ext cx="381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69373" y="5478066"/>
            <a:ext cx="38100" cy="38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16654" y="6207770"/>
            <a:ext cx="38100" cy="38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1316" y="3203228"/>
            <a:ext cx="38100" cy="38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59626" y="2343745"/>
            <a:ext cx="38100" cy="38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91204" y="1447800"/>
            <a:ext cx="38100" cy="38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35864" y="1442740"/>
            <a:ext cx="38100" cy="38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90170" y="6389787"/>
            <a:ext cx="38100" cy="381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671250" y="1551236"/>
            <a:ext cx="38100" cy="381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13139" y="1417886"/>
            <a:ext cx="38100" cy="38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85709" y="3177480"/>
            <a:ext cx="38100" cy="38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83531" y="2915096"/>
            <a:ext cx="38100" cy="38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86610" y="1782812"/>
            <a:ext cx="38100" cy="381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739" y="1467086"/>
            <a:ext cx="9297942" cy="2989047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03985" y="1818013"/>
            <a:ext cx="3922801" cy="4796393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0802" y="560918"/>
            <a:ext cx="1597094" cy="3892437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4044" y="1570449"/>
            <a:ext cx="11577312" cy="2885771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05154" y="1300055"/>
            <a:ext cx="4690752" cy="511305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407393" y="1820579"/>
            <a:ext cx="320549" cy="4430345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85402" y="1817282"/>
            <a:ext cx="4340872" cy="3688174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600159" y="2934812"/>
            <a:ext cx="6209939" cy="3680678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17283" y="3223463"/>
            <a:ext cx="3695050" cy="3193741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500722" y="3198767"/>
            <a:ext cx="1915448" cy="3054377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07795" y="5497370"/>
            <a:ext cx="2682162" cy="920701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199275" y="1302354"/>
            <a:ext cx="3300216" cy="5235822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387569" y="5497199"/>
            <a:ext cx="4025443" cy="758115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699250" y="560543"/>
            <a:ext cx="3014193" cy="5855209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709189" y="6226822"/>
            <a:ext cx="5926662" cy="191534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578615" y="4848850"/>
            <a:ext cx="6531493" cy="739006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99185" y="560675"/>
            <a:ext cx="2578959" cy="5413131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954130" y="2008330"/>
            <a:ext cx="3692514" cy="3997815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03134" y="1303355"/>
            <a:ext cx="1696930" cy="5309481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63875" y="1907188"/>
            <a:ext cx="1432191" cy="4687077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97823" y="562575"/>
            <a:ext cx="110419" cy="2376536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263857" y="1907245"/>
            <a:ext cx="1432191" cy="4687077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706507" y="1571148"/>
            <a:ext cx="6986486" cy="4846366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265977" y="1571022"/>
            <a:ext cx="8426651" cy="5026007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384200" y="1469477"/>
            <a:ext cx="2030310" cy="4034468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267195" y="5497284"/>
            <a:ext cx="4122411" cy="1100257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12517" y="4447658"/>
            <a:ext cx="3158497" cy="2149168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688708" y="1904720"/>
            <a:ext cx="5949732" cy="4330666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550489" y="1464865"/>
            <a:ext cx="1866091" cy="4787491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68599" y="647720"/>
            <a:ext cx="1613489" cy="1723024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127543" y="1440788"/>
            <a:ext cx="1080422" cy="509583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200002" y="2008225"/>
            <a:ext cx="4446542" cy="4530651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807198" y="6245894"/>
            <a:ext cx="3605417" cy="370237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578763" y="4848843"/>
            <a:ext cx="6149341" cy="558362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12854" y="1802514"/>
            <a:ext cx="4695079" cy="2653232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600005" y="2934904"/>
            <a:ext cx="2981663" cy="1922651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803900" y="1572206"/>
            <a:ext cx="3890122" cy="5042094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10784" y="560962"/>
            <a:ext cx="1597094" cy="3892437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0635672" y="6226823"/>
            <a:ext cx="776585" cy="28570"/>
          </a:xfrm>
          <a:prstGeom prst="rect">
            <a:avLst/>
          </a:prstGeom>
        </p:spPr>
      </p:pic>
      <p:pic>
        <p:nvPicPr>
          <p:cNvPr id="73" name="Image 71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924550" y="1714500"/>
            <a:ext cx="342900" cy="381000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324350" y="4953000"/>
            <a:ext cx="133350" cy="152400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381625" y="4953000"/>
            <a:ext cx="133350" cy="152400"/>
          </a:xfrm>
          <a:prstGeom prst="rect">
            <a:avLst/>
          </a:prstGeom>
        </p:spPr>
      </p:pic>
      <p:pic>
        <p:nvPicPr>
          <p:cNvPr id="76" name="Image 74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572250" y="4953000"/>
            <a:ext cx="152400" cy="152400"/>
          </a:xfrm>
          <a:prstGeom prst="rect">
            <a:avLst/>
          </a:prstGeom>
        </p:spPr>
      </p:pic>
      <p:sp>
        <p:nvSpPr>
          <p:cNvPr id="77" name="Text 0"/>
          <p:cNvSpPr/>
          <p:nvPr/>
        </p:nvSpPr>
        <p:spPr>
          <a:xfrm>
            <a:off x="1219200" y="0"/>
            <a:ext cx="7707213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4B4B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01001001 01101110 01100110 01110010 01100001 01101110 01100100 01100101 01110010</a:t>
            </a:r>
            <a:endParaRPr lang="en-US" sz="1050" dirty="0"/>
          </a:p>
        </p:txBody>
      </p:sp>
      <p:sp>
        <p:nvSpPr>
          <p:cNvPr id="80" name="Text 3"/>
          <p:cNvSpPr/>
          <p:nvPr/>
        </p:nvSpPr>
        <p:spPr>
          <a:xfrm>
            <a:off x="8534400" y="-5715000"/>
            <a:ext cx="365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4B4B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01000010 01101001 01101110 01100001 01110010 01111001 01100101 01110010 01100111</a:t>
            </a:r>
            <a:endParaRPr lang="en-US" sz="1050" dirty="0"/>
          </a:p>
        </p:txBody>
      </p:sp>
      <p:sp>
        <p:nvSpPr>
          <p:cNvPr id="81" name="Text 4"/>
          <p:cNvSpPr/>
          <p:nvPr/>
        </p:nvSpPr>
        <p:spPr>
          <a:xfrm>
            <a:off x="2819400" y="2324100"/>
            <a:ext cx="6553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EmberEye</a:t>
            </a:r>
            <a:endParaRPr lang="en-US" sz="4500" dirty="0"/>
          </a:p>
        </p:txBody>
      </p:sp>
      <p:sp>
        <p:nvSpPr>
          <p:cNvPr id="82" name="Text 5"/>
          <p:cNvSpPr/>
          <p:nvPr/>
        </p:nvSpPr>
        <p:spPr>
          <a:xfrm>
            <a:off x="2164080" y="3048000"/>
            <a:ext cx="78638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Binary Detector &amp; Analysis Toolkit</a:t>
            </a:r>
            <a:endParaRPr lang="en-US" sz="2250" dirty="0"/>
          </a:p>
        </p:txBody>
      </p:sp>
      <p:sp>
        <p:nvSpPr>
          <p:cNvPr id="83" name="Text 6"/>
          <p:cNvSpPr/>
          <p:nvPr/>
        </p:nvSpPr>
        <p:spPr>
          <a:xfrm>
            <a:off x="2164080" y="4038600"/>
            <a:ext cx="7863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Network/Traffic Data Analysis</a:t>
            </a:r>
            <a:endParaRPr lang="en-US" sz="1500" dirty="0"/>
          </a:p>
        </p:txBody>
      </p:sp>
      <p:sp>
        <p:nvSpPr>
          <p:cNvPr id="84" name="Text 7"/>
          <p:cNvSpPr/>
          <p:nvPr/>
        </p:nvSpPr>
        <p:spPr>
          <a:xfrm>
            <a:off x="4471988" y="4914900"/>
            <a:ext cx="74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CatBoost</a:t>
            </a:r>
            <a:endParaRPr lang="en-US" sz="1200" dirty="0"/>
          </a:p>
        </p:txBody>
      </p:sp>
      <p:sp>
        <p:nvSpPr>
          <p:cNvPr id="85" name="Text 8"/>
          <p:cNvSpPr/>
          <p:nvPr/>
        </p:nvSpPr>
        <p:spPr>
          <a:xfrm>
            <a:off x="5515928" y="4914900"/>
            <a:ext cx="902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2.2M Rows</a:t>
            </a:r>
            <a:endParaRPr lang="en-US" sz="1200" dirty="0"/>
          </a:p>
        </p:txBody>
      </p:sp>
      <p:sp>
        <p:nvSpPr>
          <p:cNvPr id="86" name="Text 9"/>
          <p:cNvSpPr/>
          <p:nvPr/>
        </p:nvSpPr>
        <p:spPr>
          <a:xfrm>
            <a:off x="6694170" y="49149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99.9% Accuracy</a:t>
            </a:r>
            <a:endParaRPr lang="en-US" sz="1200" dirty="0"/>
          </a:p>
        </p:txBody>
      </p:sp>
      <p:sp>
        <p:nvSpPr>
          <p:cNvPr id="88" name="Text 5">
            <a:extLst>
              <a:ext uri="{FF2B5EF4-FFF2-40B4-BE49-F238E27FC236}">
                <a16:creationId xmlns:a16="http://schemas.microsoft.com/office/drawing/2014/main" id="{50EFFD0F-24EC-E780-E631-04980B6F1CF0}"/>
              </a:ext>
            </a:extLst>
          </p:cNvPr>
          <p:cNvSpPr/>
          <p:nvPr/>
        </p:nvSpPr>
        <p:spPr>
          <a:xfrm>
            <a:off x="9848494" y="6075457"/>
            <a:ext cx="2305266" cy="3067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5E7EB"/>
                </a:solidFill>
                <a:latin typeface="Poor Richard" panose="02080502050505020702" pitchFamily="18" charset="0"/>
                <a:ea typeface="Roboto" pitchFamily="34" charset="-122"/>
                <a:cs typeface="Roboto" pitchFamily="34" charset="-120"/>
              </a:rPr>
              <a:t>Sai Meghana</a:t>
            </a:r>
            <a:endParaRPr lang="en-US" sz="2250" b="1" dirty="0">
              <a:latin typeface="Poor Richard" panose="02080502050505020702" pitchFamily="18" charset="0"/>
            </a:endParaRPr>
          </a:p>
        </p:txBody>
      </p:sp>
      <p:sp>
        <p:nvSpPr>
          <p:cNvPr id="89" name="Text 6">
            <a:extLst>
              <a:ext uri="{FF2B5EF4-FFF2-40B4-BE49-F238E27FC236}">
                <a16:creationId xmlns:a16="http://schemas.microsoft.com/office/drawing/2014/main" id="{EC54AD4E-F9E5-3CE0-9EA1-3ACCE8B47113}"/>
              </a:ext>
            </a:extLst>
          </p:cNvPr>
          <p:cNvSpPr/>
          <p:nvPr/>
        </p:nvSpPr>
        <p:spPr>
          <a:xfrm>
            <a:off x="6990744" y="5641726"/>
            <a:ext cx="7863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D1D5DB"/>
                </a:solidFill>
                <a:latin typeface="Pristina" panose="03060402040406080204" pitchFamily="66" charset="0"/>
                <a:ea typeface="Roboto" pitchFamily="34" charset="-122"/>
                <a:cs typeface="Roboto" pitchFamily="34" charset="-120"/>
              </a:rPr>
              <a:t>By</a:t>
            </a:r>
            <a:endParaRPr lang="en-US" sz="2000" b="1" dirty="0">
              <a:latin typeface="Pristina" panose="0306040204040608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578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7155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00150"/>
            <a:ext cx="11430000" cy="1752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8954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352675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8954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3163" y="2352675"/>
            <a:ext cx="20002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143250"/>
            <a:ext cx="11430000" cy="1943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75285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05765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3624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667250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2475" y="3714750"/>
            <a:ext cx="40005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6825" y="3714750"/>
            <a:ext cx="457200" cy="457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Overview and Vision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571500" y="1390650"/>
            <a:ext cx="1325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EmberEye is a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binary detector and analysis toolkit</a:t>
            </a: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network data.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000125" y="1859310"/>
            <a:ext cx="494919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Historically known as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Fruty</a:t>
            </a: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EmbeReye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1000125" y="2316510"/>
            <a:ext cx="562356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network events using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CatBoost model</a:t>
            </a:r>
            <a:endParaRPr lang="en-US" sz="1800" dirty="0"/>
          </a:p>
        </p:txBody>
      </p:sp>
      <p:sp>
        <p:nvSpPr>
          <p:cNvPr id="20" name="Text 4"/>
          <p:cNvSpPr/>
          <p:nvPr/>
        </p:nvSpPr>
        <p:spPr>
          <a:xfrm>
            <a:off x="6638925" y="1859310"/>
            <a:ext cx="563499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Emphasizes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reproducibility</a:t>
            </a: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clear artifacts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6638925" y="2316510"/>
            <a:ext cx="514350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dataset: </a:t>
            </a:r>
            <a:r>
              <a:rPr lang="en-US" sz="18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combine.csv</a:t>
            </a: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(2.2M rows)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571500" y="3333750"/>
            <a:ext cx="5524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Components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685800" y="371475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Trained models in </a:t>
            </a:r>
            <a:r>
              <a:rPr lang="en-US" sz="15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models/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685800" y="401955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Experiment results in </a:t>
            </a:r>
            <a:r>
              <a:rPr lang="en-US" sz="15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results/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685800" y="432435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Scripts in </a:t>
            </a:r>
            <a:r>
              <a:rPr lang="en-US" sz="15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src/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733425" y="462915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EDA in </a:t>
            </a:r>
            <a:r>
              <a:rPr lang="en-US" sz="1500" dirty="0">
                <a:solidFill>
                  <a:srgbClr val="00C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notebooks/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7635240" y="4248150"/>
            <a:ext cx="2446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Traffic Analysis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11410950" y="5238750"/>
            <a:ext cx="480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/ 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71600"/>
            <a:ext cx="3657600" cy="476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25" y="1638300"/>
            <a:ext cx="666750" cy="666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150" y="1781175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5755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6715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7675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371600"/>
            <a:ext cx="3657600" cy="4762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2625" y="1638300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1781175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900" y="295275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900" y="356235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900" y="417195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657600" cy="4762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5025" y="1638300"/>
            <a:ext cx="666750" cy="666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6950" y="1781175"/>
            <a:ext cx="3429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295275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356235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4171950"/>
            <a:ext cx="171450" cy="1714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304800"/>
            <a:ext cx="11582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Objectives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571500" y="2495550"/>
            <a:ext cx="31242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Production-Ready Detector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819150" y="32194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single, high-performing CatBoost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detector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819150" y="38290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as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models/final_detector.joblib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819150" y="44386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readiness for production environments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4221480" y="2495550"/>
            <a:ext cx="3749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Robustness Validation</a:t>
            </a:r>
            <a:endParaRPr lang="en-US" sz="1800" dirty="0"/>
          </a:p>
        </p:txBody>
      </p:sp>
      <p:sp>
        <p:nvSpPr>
          <p:cNvPr id="27" name="Text 6"/>
          <p:cNvSpPr/>
          <p:nvPr/>
        </p:nvSpPr>
        <p:spPr>
          <a:xfrm>
            <a:off x="4781550" y="29146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through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sampled Cross-Validation</a:t>
            </a:r>
            <a:endParaRPr lang="en-US" sz="1350" dirty="0"/>
          </a:p>
        </p:txBody>
      </p:sp>
      <p:sp>
        <p:nvSpPr>
          <p:cNvPr id="28" name="Text 7"/>
          <p:cNvSpPr/>
          <p:nvPr/>
        </p:nvSpPr>
        <p:spPr>
          <a:xfrm>
            <a:off x="4781550" y="35242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permutation importance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analysis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4781550" y="41338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leakage scans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reproducibility tests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8183880" y="2495550"/>
            <a:ext cx="3749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Tooling</a:t>
            </a:r>
            <a:endParaRPr lang="en-US" sz="1800" dirty="0"/>
          </a:p>
        </p:txBody>
      </p:sp>
      <p:sp>
        <p:nvSpPr>
          <p:cNvPr id="31" name="Text 10"/>
          <p:cNvSpPr/>
          <p:nvPr/>
        </p:nvSpPr>
        <p:spPr>
          <a:xfrm>
            <a:off x="8743950" y="29146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</a:t>
            </a:r>
            <a:r>
              <a:rPr lang="en-US" sz="1350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straightforward inference tooling</a:t>
            </a:r>
            <a:endParaRPr lang="en-US" sz="1350" dirty="0"/>
          </a:p>
        </p:txBody>
      </p:sp>
      <p:sp>
        <p:nvSpPr>
          <p:cNvPr id="32" name="Text 11"/>
          <p:cNvSpPr/>
          <p:nvPr/>
        </p:nvSpPr>
        <p:spPr>
          <a:xfrm>
            <a:off x="8743950" y="35242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</a:t>
            </a:r>
            <a:r>
              <a:rPr lang="en-US" sz="1350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reproducibility checklist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auditors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8743950" y="4133850"/>
            <a:ext cx="2876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 deployment and auditing processes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304800" y="63627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11054060" y="63627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of 17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5524500" cy="438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57375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324100"/>
            <a:ext cx="1428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432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1623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814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838700"/>
            <a:ext cx="5067300" cy="914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9911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00200"/>
            <a:ext cx="5524500" cy="438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857375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286000"/>
            <a:ext cx="50673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2286000"/>
            <a:ext cx="50673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286000"/>
            <a:ext cx="2026295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5195" y="2286000"/>
            <a:ext cx="304100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2628900"/>
            <a:ext cx="2026295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5195" y="2628900"/>
            <a:ext cx="3041005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9495" y="270510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36645" y="2752725"/>
            <a:ext cx="11430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009900"/>
            <a:ext cx="2026295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5195" y="3009900"/>
            <a:ext cx="3041005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9495" y="3086100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36645" y="3133725"/>
            <a:ext cx="11430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390900"/>
            <a:ext cx="2026295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5195" y="3390900"/>
            <a:ext cx="3041005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9495" y="34671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36645" y="3514725"/>
            <a:ext cx="11430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771900"/>
            <a:ext cx="2026295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5195" y="3771900"/>
            <a:ext cx="3041005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79495" y="3848100"/>
            <a:ext cx="228600" cy="228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36645" y="3895725"/>
            <a:ext cx="11430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152900"/>
            <a:ext cx="2026295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5195" y="4152900"/>
            <a:ext cx="3041005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4533900"/>
            <a:ext cx="213866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9084" y="4572000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15908" y="4533900"/>
            <a:ext cx="213866" cy="2286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56091" y="4572000"/>
            <a:ext cx="133350" cy="1524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457200" y="457200"/>
            <a:ext cx="11277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Foundation</a:t>
            </a:r>
            <a:endParaRPr lang="en-US" sz="3600" dirty="0"/>
          </a:p>
        </p:txBody>
      </p:sp>
      <p:sp>
        <p:nvSpPr>
          <p:cNvPr id="40" name="Text 1"/>
          <p:cNvSpPr/>
          <p:nvPr/>
        </p:nvSpPr>
        <p:spPr>
          <a:xfrm>
            <a:off x="962025" y="1828800"/>
            <a:ext cx="60807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combine.csv Dataset</a:t>
            </a:r>
            <a:endParaRPr lang="en-US" sz="1800" dirty="0"/>
          </a:p>
        </p:txBody>
      </p:sp>
      <p:sp>
        <p:nvSpPr>
          <p:cNvPr id="41" name="Text 2"/>
          <p:cNvSpPr/>
          <p:nvPr/>
        </p:nvSpPr>
        <p:spPr>
          <a:xfrm>
            <a:off x="942975" y="2286000"/>
            <a:ext cx="2777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Filename: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combine.csv</a:t>
            </a:r>
            <a:endParaRPr lang="en-US" sz="1500" dirty="0"/>
          </a:p>
        </p:txBody>
      </p:sp>
      <p:sp>
        <p:nvSpPr>
          <p:cNvPr id="42" name="Text 3"/>
          <p:cNvSpPr/>
          <p:nvPr/>
        </p:nvSpPr>
        <p:spPr>
          <a:xfrm>
            <a:off x="990600" y="2705100"/>
            <a:ext cx="42323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Size: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Approximately 2.2 million rows</a:t>
            </a:r>
            <a:endParaRPr lang="en-US" sz="1500" dirty="0"/>
          </a:p>
        </p:txBody>
      </p:sp>
      <p:sp>
        <p:nvSpPr>
          <p:cNvPr id="43" name="Text 4"/>
          <p:cNvSpPr/>
          <p:nvPr/>
        </p:nvSpPr>
        <p:spPr>
          <a:xfrm>
            <a:off x="990600" y="3124200"/>
            <a:ext cx="34970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Around 78 features</a:t>
            </a:r>
            <a:endParaRPr lang="en-US" sz="1500" dirty="0"/>
          </a:p>
        </p:txBody>
      </p:sp>
      <p:sp>
        <p:nvSpPr>
          <p:cNvPr id="44" name="Text 5"/>
          <p:cNvSpPr/>
          <p:nvPr/>
        </p:nvSpPr>
        <p:spPr>
          <a:xfrm>
            <a:off x="990600" y="3543300"/>
            <a:ext cx="26487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Column: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Label</a:t>
            </a:r>
            <a:endParaRPr lang="en-US" sz="1500" dirty="0"/>
          </a:p>
        </p:txBody>
      </p:sp>
      <p:sp>
        <p:nvSpPr>
          <p:cNvPr id="45" name="Text 6"/>
          <p:cNvSpPr/>
          <p:nvPr/>
        </p:nvSpPr>
        <p:spPr>
          <a:xfrm>
            <a:off x="1028700" y="4953000"/>
            <a:ext cx="48387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Always confirm header names, as some CSVs may contain leading or trailing whitespace. Explicit checks are recommended.</a:t>
            </a:r>
            <a:endParaRPr lang="en-US" sz="1200" dirty="0"/>
          </a:p>
        </p:txBody>
      </p:sp>
      <p:sp>
        <p:nvSpPr>
          <p:cNvPr id="46" name="Text 7"/>
          <p:cNvSpPr/>
          <p:nvPr/>
        </p:nvSpPr>
        <p:spPr>
          <a:xfrm>
            <a:off x="6743700" y="1828800"/>
            <a:ext cx="60807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Features Breakdown</a:t>
            </a:r>
            <a:endParaRPr lang="en-US" sz="1800" dirty="0"/>
          </a:p>
        </p:txBody>
      </p:sp>
      <p:sp>
        <p:nvSpPr>
          <p:cNvPr id="47" name="Text 8"/>
          <p:cNvSpPr/>
          <p:nvPr/>
        </p:nvSpPr>
        <p:spPr>
          <a:xfrm>
            <a:off x="6553200" y="2286000"/>
            <a:ext cx="20262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8579495" y="2286000"/>
            <a:ext cx="304100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6553200" y="2628900"/>
            <a:ext cx="2026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feature_1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8884295" y="2705100"/>
            <a:ext cx="28124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6553200" y="3009900"/>
            <a:ext cx="2026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feature_2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8884295" y="3086100"/>
            <a:ext cx="28124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6553200" y="3390900"/>
            <a:ext cx="2026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feature_3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8884295" y="3467100"/>
            <a:ext cx="28124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6553200" y="3771900"/>
            <a:ext cx="2026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feature_4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8884295" y="3848100"/>
            <a:ext cx="28124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6553200" y="4152900"/>
            <a:ext cx="20262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...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8579495" y="4152900"/>
            <a:ext cx="304100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...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6728966" y="4419600"/>
            <a:ext cx="125834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 Features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8505974" y="4419600"/>
            <a:ext cx="14705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 Features</a:t>
            </a:r>
            <a:endParaRPr lang="en-US" sz="1200" dirty="0"/>
          </a:p>
        </p:txBody>
      </p:sp>
      <p:sp>
        <p:nvSpPr>
          <p:cNvPr id="61" name="Text 22"/>
          <p:cNvSpPr/>
          <p:nvPr/>
        </p:nvSpPr>
        <p:spPr>
          <a:xfrm>
            <a:off x="9976545" y="4457700"/>
            <a:ext cx="152965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Preview of feature types</a:t>
            </a: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457200" y="62103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63" name="Text 24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of 17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600"/>
            <a:ext cx="3733800" cy="18573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485900"/>
            <a:ext cx="428625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85913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1533525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371600"/>
            <a:ext cx="3733800" cy="18573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485900"/>
            <a:ext cx="428625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413" y="1585913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4425" y="1533525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371600"/>
            <a:ext cx="3733800" cy="18573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0" y="1485900"/>
            <a:ext cx="428625" cy="428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800" y="1585913"/>
            <a:ext cx="20002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2525" y="1533525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343275"/>
            <a:ext cx="3733800" cy="27908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3457575"/>
            <a:ext cx="428625" cy="428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557588"/>
            <a:ext cx="20002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6325" y="35052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9100" y="3343275"/>
            <a:ext cx="3733800" cy="27908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3457575"/>
            <a:ext cx="428625" cy="4286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3413" y="3557588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24425" y="35052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343275"/>
            <a:ext cx="3733800" cy="27908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0" y="3457575"/>
            <a:ext cx="428625" cy="42862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1513" y="3557588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72525" y="3505200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72525" y="4438650"/>
            <a:ext cx="219075" cy="190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1390650" y="1485900"/>
            <a:ext cx="2335292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076325" y="1847850"/>
            <a:ext cx="23352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1076325" y="2114550"/>
            <a:ext cx="23352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language for project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5238750" y="1485900"/>
            <a:ext cx="2400836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 Frameworks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924425" y="1847850"/>
            <a:ext cx="20006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CatBoost</a:t>
            </a:r>
            <a:endParaRPr lang="en-US" sz="1500" dirty="0"/>
          </a:p>
        </p:txBody>
      </p:sp>
      <p:sp>
        <p:nvSpPr>
          <p:cNvPr id="34" name="Text 6"/>
          <p:cNvSpPr/>
          <p:nvPr/>
        </p:nvSpPr>
        <p:spPr>
          <a:xfrm>
            <a:off x="4924425" y="2114550"/>
            <a:ext cx="24008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performance model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4924425" y="2381250"/>
            <a:ext cx="24008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4924425" y="2647950"/>
            <a:ext cx="24008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utilities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9039225" y="1485900"/>
            <a:ext cx="1968103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Tools</a:t>
            </a:r>
            <a:endParaRPr lang="en-US" sz="1500" dirty="0"/>
          </a:p>
        </p:txBody>
      </p:sp>
      <p:sp>
        <p:nvSpPr>
          <p:cNvPr id="38" name="Text 10"/>
          <p:cNvSpPr/>
          <p:nvPr/>
        </p:nvSpPr>
        <p:spPr>
          <a:xfrm>
            <a:off x="8772525" y="1847850"/>
            <a:ext cx="16400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pandas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8772525" y="2114550"/>
            <a:ext cx="19681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manipulation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8772525" y="2381250"/>
            <a:ext cx="16400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numpy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8772525" y="2647950"/>
            <a:ext cx="19681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Numerical computing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1343025" y="3457575"/>
            <a:ext cx="1940957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43" name="Text 15"/>
          <p:cNvSpPr/>
          <p:nvPr/>
        </p:nvSpPr>
        <p:spPr>
          <a:xfrm>
            <a:off x="1076325" y="3819525"/>
            <a:ext cx="16174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joblib</a:t>
            </a:r>
            <a:endParaRPr lang="en-US" sz="1500" dirty="0"/>
          </a:p>
        </p:txBody>
      </p:sp>
      <p:sp>
        <p:nvSpPr>
          <p:cNvPr id="44" name="Text 16"/>
          <p:cNvSpPr/>
          <p:nvPr/>
        </p:nvSpPr>
        <p:spPr>
          <a:xfrm>
            <a:off x="1076325" y="4086225"/>
            <a:ext cx="19409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saving/loading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5191125" y="3457575"/>
            <a:ext cx="228082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46" name="Text 18"/>
          <p:cNvSpPr/>
          <p:nvPr/>
        </p:nvSpPr>
        <p:spPr>
          <a:xfrm>
            <a:off x="4924425" y="3819525"/>
            <a:ext cx="22808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47" name="Text 19"/>
          <p:cNvSpPr/>
          <p:nvPr/>
        </p:nvSpPr>
        <p:spPr>
          <a:xfrm>
            <a:off x="4924425" y="4086225"/>
            <a:ext cx="2280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plots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4924425" y="4352925"/>
            <a:ext cx="19006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seaborn</a:t>
            </a:r>
            <a:endParaRPr lang="en-US" sz="1500" dirty="0"/>
          </a:p>
        </p:txBody>
      </p:sp>
      <p:sp>
        <p:nvSpPr>
          <p:cNvPr id="49" name="Text 21"/>
          <p:cNvSpPr/>
          <p:nvPr/>
        </p:nvSpPr>
        <p:spPr>
          <a:xfrm>
            <a:off x="4924425" y="4619625"/>
            <a:ext cx="2280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graphics</a:t>
            </a:r>
            <a:endParaRPr lang="en-US" sz="1200" dirty="0"/>
          </a:p>
        </p:txBody>
      </p:sp>
      <p:sp>
        <p:nvSpPr>
          <p:cNvPr id="50" name="Text 22"/>
          <p:cNvSpPr/>
          <p:nvPr/>
        </p:nvSpPr>
        <p:spPr>
          <a:xfrm>
            <a:off x="4924425" y="4886325"/>
            <a:ext cx="19006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plotly</a:t>
            </a:r>
            <a:endParaRPr lang="en-US" sz="1500" dirty="0"/>
          </a:p>
        </p:txBody>
      </p:sp>
      <p:sp>
        <p:nvSpPr>
          <p:cNvPr id="51" name="Text 23"/>
          <p:cNvSpPr/>
          <p:nvPr/>
        </p:nvSpPr>
        <p:spPr>
          <a:xfrm>
            <a:off x="4924425" y="5153025"/>
            <a:ext cx="2280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visualizations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9039225" y="3457575"/>
            <a:ext cx="2843659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Optional</a:t>
            </a:r>
            <a:endParaRPr lang="en-US" sz="1500" dirty="0"/>
          </a:p>
        </p:txBody>
      </p:sp>
      <p:sp>
        <p:nvSpPr>
          <p:cNvPr id="53" name="Text 25"/>
          <p:cNvSpPr/>
          <p:nvPr/>
        </p:nvSpPr>
        <p:spPr>
          <a:xfrm>
            <a:off x="8772525" y="3819525"/>
            <a:ext cx="28436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shap</a:t>
            </a:r>
            <a:endParaRPr lang="en-US" sz="1500" dirty="0"/>
          </a:p>
        </p:txBody>
      </p:sp>
      <p:sp>
        <p:nvSpPr>
          <p:cNvPr id="54" name="Text 26"/>
          <p:cNvSpPr/>
          <p:nvPr/>
        </p:nvSpPr>
        <p:spPr>
          <a:xfrm>
            <a:off x="8772525" y="4086225"/>
            <a:ext cx="34123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interpretability</a:t>
            </a:r>
            <a:endParaRPr lang="en-US" sz="1200" dirty="0"/>
          </a:p>
        </p:txBody>
      </p:sp>
      <p:sp>
        <p:nvSpPr>
          <p:cNvPr id="55" name="Text 27"/>
          <p:cNvSpPr/>
          <p:nvPr/>
        </p:nvSpPr>
        <p:spPr>
          <a:xfrm>
            <a:off x="9067800" y="4391025"/>
            <a:ext cx="2843659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56" name="Text 28"/>
          <p:cNvSpPr/>
          <p:nvPr/>
        </p:nvSpPr>
        <p:spPr>
          <a:xfrm>
            <a:off x="8772525" y="4752975"/>
            <a:ext cx="34123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environment-catboost.yml</a:t>
            </a:r>
            <a:endParaRPr lang="en-US" sz="1500" dirty="0"/>
          </a:p>
        </p:txBody>
      </p:sp>
      <p:sp>
        <p:nvSpPr>
          <p:cNvPr id="57" name="Text 29"/>
          <p:cNvSpPr/>
          <p:nvPr/>
        </p:nvSpPr>
        <p:spPr>
          <a:xfrm>
            <a:off x="8772525" y="5019675"/>
            <a:ext cx="34123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Conda env for CatBoost</a:t>
            </a:r>
            <a:endParaRPr lang="en-US" sz="1200" dirty="0"/>
          </a:p>
        </p:txBody>
      </p:sp>
      <p:sp>
        <p:nvSpPr>
          <p:cNvPr id="58" name="Text 30"/>
          <p:cNvSpPr/>
          <p:nvPr/>
        </p:nvSpPr>
        <p:spPr>
          <a:xfrm>
            <a:off x="8772525" y="5286375"/>
            <a:ext cx="34123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requirements.txt</a:t>
            </a:r>
            <a:endParaRPr lang="en-US" sz="1500" dirty="0"/>
          </a:p>
        </p:txBody>
      </p:sp>
      <p:sp>
        <p:nvSpPr>
          <p:cNvPr id="59" name="Text 31"/>
          <p:cNvSpPr/>
          <p:nvPr/>
        </p:nvSpPr>
        <p:spPr>
          <a:xfrm>
            <a:off x="8772525" y="5553075"/>
            <a:ext cx="34123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 dependencies</a:t>
            </a:r>
            <a:endParaRPr lang="en-US" sz="1200" dirty="0"/>
          </a:p>
        </p:txBody>
      </p:sp>
      <p:sp>
        <p:nvSpPr>
          <p:cNvPr id="60" name="Text 32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61" name="Text 33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of 17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257300"/>
            <a:ext cx="115824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209800"/>
            <a:ext cx="11430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2479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590800"/>
            <a:ext cx="11430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2900" y="2209800"/>
            <a:ext cx="13335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5350" y="22479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2900" y="2590800"/>
            <a:ext cx="1333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0276" y="2590800"/>
            <a:ext cx="282476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4501" y="2209800"/>
            <a:ext cx="13335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6951" y="22479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4501" y="2590800"/>
            <a:ext cx="1333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0276" y="2590800"/>
            <a:ext cx="3324225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6250" y="2209800"/>
            <a:ext cx="13335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0125" y="22479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6250" y="2590800"/>
            <a:ext cx="1333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30276" y="2590800"/>
            <a:ext cx="6365825" cy="190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37850" y="2209800"/>
            <a:ext cx="105415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704588" y="22479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37850" y="2590800"/>
            <a:ext cx="10541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30276" y="2590800"/>
            <a:ext cx="9407426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30276" y="2590800"/>
            <a:ext cx="10461724" cy="190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4800" y="4038600"/>
            <a:ext cx="3784550" cy="990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419100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03650" y="4038600"/>
            <a:ext cx="3784550" cy="990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56050" y="41910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02501" y="4038600"/>
            <a:ext cx="3784699" cy="990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54901" y="4191000"/>
            <a:ext cx="23812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4800" y="5143500"/>
            <a:ext cx="3784550" cy="990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7200" y="5295900"/>
            <a:ext cx="171450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03650" y="5143500"/>
            <a:ext cx="3784550" cy="990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56050" y="5295900"/>
            <a:ext cx="17145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02501" y="5143500"/>
            <a:ext cx="3784699" cy="990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54901" y="5295900"/>
            <a:ext cx="238125" cy="2667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04800" y="304800"/>
            <a:ext cx="11582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Architecture</a:t>
            </a:r>
            <a:endParaRPr lang="en-US" sz="3600" dirty="0"/>
          </a:p>
        </p:txBody>
      </p:sp>
      <p:sp>
        <p:nvSpPr>
          <p:cNvPr id="37" name="Text 1"/>
          <p:cNvSpPr/>
          <p:nvPr/>
        </p:nvSpPr>
        <p:spPr>
          <a:xfrm>
            <a:off x="457200" y="14097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EmberEye repository is organized to ensure clarity and ease of navigation for users. The structure separates different aspects of the project, from raw data to final model artifacts.</a:t>
            </a:r>
            <a:endParaRPr lang="en-US" sz="1500" dirty="0"/>
          </a:p>
        </p:txBody>
      </p:sp>
      <p:sp>
        <p:nvSpPr>
          <p:cNvPr id="38" name="Text 2"/>
          <p:cNvSpPr/>
          <p:nvPr/>
        </p:nvSpPr>
        <p:spPr>
          <a:xfrm>
            <a:off x="501104" y="25908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</a:t>
            </a:r>
            <a:endParaRPr lang="en-US" sz="1050" dirty="0"/>
          </a:p>
        </p:txBody>
      </p:sp>
      <p:sp>
        <p:nvSpPr>
          <p:cNvPr id="39" name="Text 3"/>
          <p:cNvSpPr/>
          <p:nvPr/>
        </p:nvSpPr>
        <p:spPr>
          <a:xfrm>
            <a:off x="2408783" y="2590800"/>
            <a:ext cx="133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</a:t>
            </a:r>
            <a:endParaRPr lang="en-US" sz="1050" dirty="0"/>
          </a:p>
        </p:txBody>
      </p:sp>
      <p:sp>
        <p:nvSpPr>
          <p:cNvPr id="40" name="Text 4"/>
          <p:cNvSpPr/>
          <p:nvPr/>
        </p:nvSpPr>
        <p:spPr>
          <a:xfrm>
            <a:off x="5461546" y="2590800"/>
            <a:ext cx="133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</a:t>
            </a:r>
            <a:endParaRPr lang="en-US" sz="1050" dirty="0"/>
          </a:p>
        </p:txBody>
      </p:sp>
      <p:sp>
        <p:nvSpPr>
          <p:cNvPr id="41" name="Text 5"/>
          <p:cNvSpPr/>
          <p:nvPr/>
        </p:nvSpPr>
        <p:spPr>
          <a:xfrm>
            <a:off x="8650784" y="2590800"/>
            <a:ext cx="133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src</a:t>
            </a:r>
            <a:endParaRPr lang="en-US" sz="1050" dirty="0"/>
          </a:p>
        </p:txBody>
      </p:sp>
      <p:sp>
        <p:nvSpPr>
          <p:cNvPr id="42" name="Text 6"/>
          <p:cNvSpPr/>
          <p:nvPr/>
        </p:nvSpPr>
        <p:spPr>
          <a:xfrm>
            <a:off x="11410801" y="2590800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notebooks</a:t>
            </a:r>
            <a:endParaRPr lang="en-US" sz="1050" dirty="0"/>
          </a:p>
        </p:txBody>
      </p:sp>
      <p:sp>
        <p:nvSpPr>
          <p:cNvPr id="43" name="Text 7"/>
          <p:cNvSpPr/>
          <p:nvPr/>
        </p:nvSpPr>
        <p:spPr>
          <a:xfrm>
            <a:off x="14380071" y="2590800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F2937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combine.csv</a:t>
            </a:r>
            <a:endParaRPr lang="en-US" sz="1050" dirty="0"/>
          </a:p>
        </p:txBody>
      </p:sp>
      <p:sp>
        <p:nvSpPr>
          <p:cNvPr id="44" name="Text 8"/>
          <p:cNvSpPr/>
          <p:nvPr/>
        </p:nvSpPr>
        <p:spPr>
          <a:xfrm>
            <a:off x="723900" y="4191000"/>
            <a:ext cx="9108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models/</a:t>
            </a:r>
            <a:endParaRPr lang="en-US" sz="1350" dirty="0"/>
          </a:p>
        </p:txBody>
      </p:sp>
      <p:sp>
        <p:nvSpPr>
          <p:cNvPr id="45" name="Text 9"/>
          <p:cNvSpPr/>
          <p:nvPr/>
        </p:nvSpPr>
        <p:spPr>
          <a:xfrm>
            <a:off x="457200" y="4495800"/>
            <a:ext cx="347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Stores trained models, including </a:t>
            </a:r>
            <a:r>
              <a:rPr lang="en-US" sz="10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final_detector.joblib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050" dirty="0"/>
          </a:p>
        </p:txBody>
      </p:sp>
      <p:sp>
        <p:nvSpPr>
          <p:cNvPr id="46" name="Text 10"/>
          <p:cNvSpPr/>
          <p:nvPr/>
        </p:nvSpPr>
        <p:spPr>
          <a:xfrm>
            <a:off x="4622750" y="4191000"/>
            <a:ext cx="8765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results/</a:t>
            </a:r>
            <a:endParaRPr lang="en-US" sz="1350" dirty="0"/>
          </a:p>
        </p:txBody>
      </p:sp>
      <p:sp>
        <p:nvSpPr>
          <p:cNvPr id="47" name="Text 11"/>
          <p:cNvSpPr/>
          <p:nvPr/>
        </p:nvSpPr>
        <p:spPr>
          <a:xfrm>
            <a:off x="4356050" y="4495800"/>
            <a:ext cx="347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Contains experiment outputs like JSON summaries and figures.</a:t>
            </a:r>
            <a:endParaRPr lang="en-US" sz="1050" dirty="0"/>
          </a:p>
        </p:txBody>
      </p:sp>
      <p:sp>
        <p:nvSpPr>
          <p:cNvPr id="48" name="Text 12"/>
          <p:cNvSpPr/>
          <p:nvPr/>
        </p:nvSpPr>
        <p:spPr>
          <a:xfrm>
            <a:off x="8569226" y="4191000"/>
            <a:ext cx="4211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src/</a:t>
            </a:r>
            <a:endParaRPr lang="en-US" sz="1350" dirty="0"/>
          </a:p>
        </p:txBody>
      </p:sp>
      <p:sp>
        <p:nvSpPr>
          <p:cNvPr id="49" name="Text 13"/>
          <p:cNvSpPr/>
          <p:nvPr/>
        </p:nvSpPr>
        <p:spPr>
          <a:xfrm>
            <a:off x="8254901" y="4495800"/>
            <a:ext cx="34798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Houses training and validation scripts for CatBoost model.</a:t>
            </a:r>
            <a:endParaRPr lang="en-US" sz="1050" dirty="0"/>
          </a:p>
        </p:txBody>
      </p:sp>
      <p:sp>
        <p:nvSpPr>
          <p:cNvPr id="50" name="Text 14"/>
          <p:cNvSpPr/>
          <p:nvPr/>
        </p:nvSpPr>
        <p:spPr>
          <a:xfrm>
            <a:off x="704850" y="5295900"/>
            <a:ext cx="1290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notebooks/</a:t>
            </a:r>
            <a:endParaRPr lang="en-US" sz="1350" dirty="0"/>
          </a:p>
        </p:txBody>
      </p:sp>
      <p:sp>
        <p:nvSpPr>
          <p:cNvPr id="51" name="Text 15"/>
          <p:cNvSpPr/>
          <p:nvPr/>
        </p:nvSpPr>
        <p:spPr>
          <a:xfrm>
            <a:off x="457200" y="5600700"/>
            <a:ext cx="347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Contains exploratory data analysis and diagnostic notebooks.</a:t>
            </a:r>
            <a:endParaRPr lang="en-US" sz="1050" dirty="0"/>
          </a:p>
        </p:txBody>
      </p:sp>
      <p:sp>
        <p:nvSpPr>
          <p:cNvPr id="52" name="Text 16"/>
          <p:cNvSpPr/>
          <p:nvPr/>
        </p:nvSpPr>
        <p:spPr>
          <a:xfrm>
            <a:off x="4603700" y="5295900"/>
            <a:ext cx="14382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combine.csv</a:t>
            </a:r>
            <a:endParaRPr lang="en-US" sz="1350" dirty="0"/>
          </a:p>
        </p:txBody>
      </p:sp>
      <p:sp>
        <p:nvSpPr>
          <p:cNvPr id="53" name="Text 17"/>
          <p:cNvSpPr/>
          <p:nvPr/>
        </p:nvSpPr>
        <p:spPr>
          <a:xfrm>
            <a:off x="4356050" y="5600700"/>
            <a:ext cx="347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primary dataset used for training, residing in root.</a:t>
            </a:r>
            <a:endParaRPr lang="en-US" sz="1050" dirty="0"/>
          </a:p>
        </p:txBody>
      </p:sp>
      <p:sp>
        <p:nvSpPr>
          <p:cNvPr id="54" name="Text 18"/>
          <p:cNvSpPr/>
          <p:nvPr/>
        </p:nvSpPr>
        <p:spPr>
          <a:xfrm>
            <a:off x="8569226" y="5295900"/>
            <a:ext cx="14969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Assets</a:t>
            </a:r>
            <a:endParaRPr lang="en-US" sz="1350" dirty="0"/>
          </a:p>
        </p:txBody>
      </p:sp>
      <p:sp>
        <p:nvSpPr>
          <p:cNvPr id="55" name="Text 19"/>
          <p:cNvSpPr/>
          <p:nvPr/>
        </p:nvSpPr>
        <p:spPr>
          <a:xfrm>
            <a:off x="8254901" y="5600700"/>
            <a:ext cx="41758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Includes environment files and documentation.</a:t>
            </a:r>
            <a:endParaRPr lang="en-US" sz="1050" dirty="0"/>
          </a:p>
        </p:txBody>
      </p:sp>
      <p:sp>
        <p:nvSpPr>
          <p:cNvPr id="56" name="Text 20"/>
          <p:cNvSpPr/>
          <p:nvPr/>
        </p:nvSpPr>
        <p:spPr>
          <a:xfrm>
            <a:off x="304800" y="63627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57" name="Text 21"/>
          <p:cNvSpPr/>
          <p:nvPr/>
        </p:nvSpPr>
        <p:spPr>
          <a:xfrm>
            <a:off x="11054060" y="63627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of 17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295400"/>
            <a:ext cx="5695950" cy="30889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1" y="1478161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61" y="2544961"/>
            <a:ext cx="5330428" cy="69145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61" y="3772942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295400"/>
            <a:ext cx="5695950" cy="308892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011" y="1478161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4011" y="2544961"/>
            <a:ext cx="5330428" cy="46761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4011" y="3772942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574828"/>
            <a:ext cx="11582400" cy="16354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561" y="5214789"/>
            <a:ext cx="1428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4521" y="5214789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41630" y="5214789"/>
            <a:ext cx="142875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38988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 Setup and Dependencies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586829" y="1478161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2"/>
          <p:cNvSpPr/>
          <p:nvPr/>
        </p:nvSpPr>
        <p:spPr>
          <a:xfrm>
            <a:off x="944761" y="1478161"/>
            <a:ext cx="403693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Conda Environment Setup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487561" y="1897261"/>
            <a:ext cx="533042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Windows users, use the Conda environment file to avoid CatBoost build issues: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09451" y="2666851"/>
            <a:ext cx="6103977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conda env create -f environment-catboost.yml -n embereye</a:t>
            </a:r>
            <a:endParaRPr lang="en-US" sz="975" dirty="0"/>
          </a:p>
        </p:txBody>
      </p:sp>
      <p:sp>
        <p:nvSpPr>
          <p:cNvPr id="20" name="Text 5"/>
          <p:cNvSpPr/>
          <p:nvPr/>
        </p:nvSpPr>
        <p:spPr>
          <a:xfrm>
            <a:off x="609451" y="2890689"/>
            <a:ext cx="5086648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conda activate embereye</a:t>
            </a:r>
            <a:endParaRPr lang="en-US" sz="975" dirty="0"/>
          </a:p>
        </p:txBody>
      </p:sp>
      <p:sp>
        <p:nvSpPr>
          <p:cNvPr id="21" name="Text 6"/>
          <p:cNvSpPr/>
          <p:nvPr/>
        </p:nvSpPr>
        <p:spPr>
          <a:xfrm>
            <a:off x="887611" y="3668167"/>
            <a:ext cx="493037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a dedicated environment with necessary dependencies.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473279" y="1478161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831211" y="1478161"/>
            <a:ext cx="276213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 Dependencies</a:t>
            </a:r>
            <a:endParaRPr lang="en-US" sz="1800" dirty="0"/>
          </a:p>
        </p:txBody>
      </p:sp>
      <p:sp>
        <p:nvSpPr>
          <p:cNvPr id="24" name="Text 9"/>
          <p:cNvSpPr/>
          <p:nvPr/>
        </p:nvSpPr>
        <p:spPr>
          <a:xfrm>
            <a:off x="6374011" y="1897261"/>
            <a:ext cx="533042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additional utilities, install packages from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requirements.txt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495901" y="2666851"/>
            <a:ext cx="5086648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pip install -r requirements.txt</a:t>
            </a:r>
            <a:endParaRPr lang="en-US" sz="975" dirty="0"/>
          </a:p>
        </p:txBody>
      </p:sp>
      <p:sp>
        <p:nvSpPr>
          <p:cNvPr id="26" name="Text 11"/>
          <p:cNvSpPr/>
          <p:nvPr/>
        </p:nvSpPr>
        <p:spPr>
          <a:xfrm>
            <a:off x="6774061" y="3668167"/>
            <a:ext cx="493037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Recommended for full functionality of notebooks and scripts.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487561" y="4757589"/>
            <a:ext cx="112168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 to Remember</a:t>
            </a:r>
            <a:endParaRPr lang="en-US" sz="1800" dirty="0"/>
          </a:p>
        </p:txBody>
      </p:sp>
      <p:sp>
        <p:nvSpPr>
          <p:cNvPr id="28" name="Text 13"/>
          <p:cNvSpPr/>
          <p:nvPr/>
        </p:nvSpPr>
        <p:spPr>
          <a:xfrm>
            <a:off x="706636" y="5176689"/>
            <a:ext cx="344358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Windows users: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 Conda to avoid CatBoost build issues</a:t>
            </a:r>
            <a:endParaRPr lang="en-US" sz="1350" dirty="0"/>
          </a:p>
        </p:txBody>
      </p:sp>
      <p:sp>
        <p:nvSpPr>
          <p:cNvPr id="29" name="Text 14"/>
          <p:cNvSpPr/>
          <p:nvPr/>
        </p:nvSpPr>
        <p:spPr>
          <a:xfrm>
            <a:off x="4578846" y="5176689"/>
            <a:ext cx="334848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 isolation: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 dedicated environments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8260705" y="5176689"/>
            <a:ext cx="344358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Verify installation: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Check all dependencies are installed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304800" y="63627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11054060" y="63627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of 17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90700"/>
            <a:ext cx="2194471" cy="392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" y="1647825"/>
            <a:ext cx="3810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461" y="2009775"/>
            <a:ext cx="3810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43300"/>
            <a:ext cx="1889671" cy="97571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671" y="1790700"/>
            <a:ext cx="2194620" cy="392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8796" y="1647825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6580" y="2009775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4071" y="3467100"/>
            <a:ext cx="1889820" cy="11815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8690" y="1790700"/>
            <a:ext cx="2194471" cy="392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5815" y="1647825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351" y="2009775"/>
            <a:ext cx="3810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1090" y="3810000"/>
            <a:ext cx="1889671" cy="138737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5561" y="1790700"/>
            <a:ext cx="2194620" cy="392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2686" y="1647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0471" y="2009775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7961" y="3543300"/>
            <a:ext cx="1889820" cy="97571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2580" y="1790700"/>
            <a:ext cx="2194471" cy="392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49705" y="1647825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75441" y="2009775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44980" y="3543300"/>
            <a:ext cx="1889671" cy="179903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5829300"/>
            <a:ext cx="11430000" cy="2857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304800"/>
            <a:ext cx="138988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Execution Pipeline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304800" y="13716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Five-step workflow ensuring reproducibility and facilitating auditing: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272802" y="164782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457200" y="2476500"/>
            <a:ext cx="18896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 CatBoost Model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457200" y="3086100"/>
            <a:ext cx="188967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Trains the CatBoost model on combine.csv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533400" y="3543300"/>
            <a:ext cx="1889671" cy="9757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src\train_catboost_on_raw.py
--data combine.csv
--out_dir results</a:t>
            </a:r>
            <a:endParaRPr lang="en-US" sz="1080" dirty="0"/>
          </a:p>
        </p:txBody>
      </p:sp>
      <p:sp>
        <p:nvSpPr>
          <p:cNvPr id="30" name="Text 6"/>
          <p:cNvSpPr/>
          <p:nvPr/>
        </p:nvSpPr>
        <p:spPr>
          <a:xfrm>
            <a:off x="2619673" y="164782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2707794" y="2476500"/>
            <a:ext cx="20822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Diagnostics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2804071" y="2819400"/>
            <a:ext cx="188982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Performs permutation importance and cross-validation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2880271" y="3467100"/>
            <a:ext cx="1889820" cy="11815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src\catboost_checks.py
--model models/catboost_raw.joblib
--data combine.csv</a:t>
            </a:r>
            <a:endParaRPr lang="en-US" sz="1080" dirty="0"/>
          </a:p>
        </p:txBody>
      </p:sp>
      <p:sp>
        <p:nvSpPr>
          <p:cNvPr id="34" name="Text 10"/>
          <p:cNvSpPr/>
          <p:nvPr/>
        </p:nvSpPr>
        <p:spPr>
          <a:xfrm>
            <a:off x="4966692" y="164782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5151090" y="2476500"/>
            <a:ext cx="188967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Finalize Production Bundle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5151090" y="3352800"/>
            <a:ext cx="188967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Prepares the model as production-ready detector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5227290" y="3810000"/>
            <a:ext cx="1889671" cy="13873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src\finalize_model.py
--src models/catboost_raw.joblib
--dst models/final_detector.joblib</a:t>
            </a:r>
            <a:endParaRPr lang="en-US" sz="1080" dirty="0"/>
          </a:p>
        </p:txBody>
      </p:sp>
      <p:sp>
        <p:nvSpPr>
          <p:cNvPr id="38" name="Text 14"/>
          <p:cNvSpPr/>
          <p:nvPr/>
        </p:nvSpPr>
        <p:spPr>
          <a:xfrm>
            <a:off x="7313563" y="164782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15"/>
          <p:cNvSpPr/>
          <p:nvPr/>
        </p:nvSpPr>
        <p:spPr>
          <a:xfrm>
            <a:off x="7497961" y="2476500"/>
            <a:ext cx="188982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Smoke-Load Final Model</a:t>
            </a:r>
            <a:endParaRPr lang="en-US" sz="1500" dirty="0"/>
          </a:p>
        </p:txBody>
      </p:sp>
      <p:sp>
        <p:nvSpPr>
          <p:cNvPr id="40" name="Text 16"/>
          <p:cNvSpPr/>
          <p:nvPr/>
        </p:nvSpPr>
        <p:spPr>
          <a:xfrm>
            <a:off x="7497961" y="3086100"/>
            <a:ext cx="18898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Quick test to ensure the model loads successfully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7574161" y="3543300"/>
            <a:ext cx="1889820" cy="9757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src\_smoke_load_catboost.py
--model models/final_detector.joblib</a:t>
            </a:r>
            <a:endParaRPr lang="en-US" sz="1080" dirty="0"/>
          </a:p>
        </p:txBody>
      </p:sp>
      <p:sp>
        <p:nvSpPr>
          <p:cNvPr id="42" name="Text 18"/>
          <p:cNvSpPr/>
          <p:nvPr/>
        </p:nvSpPr>
        <p:spPr>
          <a:xfrm>
            <a:off x="9660582" y="164782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19"/>
          <p:cNvSpPr/>
          <p:nvPr/>
        </p:nvSpPr>
        <p:spPr>
          <a:xfrm>
            <a:off x="9844980" y="2476500"/>
            <a:ext cx="18896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 Inference</a:t>
            </a:r>
            <a:endParaRPr lang="en-US" sz="1500" dirty="0"/>
          </a:p>
        </p:txBody>
      </p:sp>
      <p:sp>
        <p:nvSpPr>
          <p:cNvPr id="44" name="Text 20"/>
          <p:cNvSpPr/>
          <p:nvPr/>
        </p:nvSpPr>
        <p:spPr>
          <a:xfrm>
            <a:off x="9844980" y="3086100"/>
            <a:ext cx="188967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predictions on new input data</a:t>
            </a:r>
            <a:endParaRPr lang="en-US" sz="1050" dirty="0"/>
          </a:p>
        </p:txBody>
      </p:sp>
      <p:sp>
        <p:nvSpPr>
          <p:cNvPr id="45" name="Text 21"/>
          <p:cNvSpPr/>
          <p:nvPr/>
        </p:nvSpPr>
        <p:spPr>
          <a:xfrm>
            <a:off x="9921180" y="3543300"/>
            <a:ext cx="1889671" cy="1799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src\predict_with_catboost.py
--model models/final_detector.joblib
--input sample_input.csv
--output results\preds.csv</a:t>
            </a:r>
            <a:endParaRPr lang="en-US" sz="1080" dirty="0"/>
          </a:p>
        </p:txBody>
      </p:sp>
      <p:sp>
        <p:nvSpPr>
          <p:cNvPr id="46" name="Text 22"/>
          <p:cNvSpPr/>
          <p:nvPr/>
        </p:nvSpPr>
        <p:spPr>
          <a:xfrm>
            <a:off x="304800" y="63627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47" name="Text 23"/>
          <p:cNvSpPr/>
          <p:nvPr/>
        </p:nvSpPr>
        <p:spPr>
          <a:xfrm>
            <a:off x="11054060" y="63627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of 17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600"/>
            <a:ext cx="5562600" cy="476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0675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81200"/>
            <a:ext cx="51816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095500"/>
            <a:ext cx="2667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26289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971800"/>
            <a:ext cx="5181600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086100"/>
            <a:ext cx="2667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36195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962400"/>
            <a:ext cx="51816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76700"/>
            <a:ext cx="2667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46101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953000"/>
            <a:ext cx="5181600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67300"/>
            <a:ext cx="2667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371600"/>
            <a:ext cx="5562600" cy="1866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590675"/>
            <a:ext cx="2571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943100"/>
            <a:ext cx="5181600" cy="1104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352800"/>
            <a:ext cx="5562600" cy="2400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571875"/>
            <a:ext cx="22860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 Process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933450" y="1562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Training Workflow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766018" y="2095500"/>
            <a:ext cx="320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1104900" y="2095500"/>
            <a:ext cx="14967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 Data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766018" y="3086100"/>
            <a:ext cx="320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1104900" y="3086100"/>
            <a:ext cx="208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Training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766018" y="4076700"/>
            <a:ext cx="320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1104900" y="4076700"/>
            <a:ext cx="13076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 Model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766018" y="5067300"/>
            <a:ext cx="320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1104900" y="5067300"/>
            <a:ext cx="1473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 Artifact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772275" y="1562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Training Command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6591300" y="1943100"/>
            <a:ext cx="5181600" cy="1104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</a:t>
            </a:r>
            <a:r>
              <a:rPr lang="en-US" sz="1350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\train_catboost_on_raw.py</a:t>
            </a: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--data </a:t>
            </a:r>
            <a:r>
              <a:rPr lang="en-US" sz="13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combine.csv</a:t>
            </a: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--out_dir </a:t>
            </a:r>
            <a:r>
              <a:rPr lang="en-US" sz="13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--model_out </a:t>
            </a:r>
            <a:r>
              <a:rPr lang="en-US" sz="13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models/catboost_raw.joblib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6743700" y="35433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Key Parameters</a:t>
            </a:r>
            <a:endParaRPr lang="en-US" sz="1800" dirty="0"/>
          </a:p>
        </p:txBody>
      </p:sp>
      <p:sp>
        <p:nvSpPr>
          <p:cNvPr id="34" name="Text 13"/>
          <p:cNvSpPr/>
          <p:nvPr/>
        </p:nvSpPr>
        <p:spPr>
          <a:xfrm>
            <a:off x="6248400" y="39243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--data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Path to training dataset</a:t>
            </a:r>
            <a:endParaRPr lang="en-US" sz="1350" dirty="0"/>
          </a:p>
        </p:txBody>
      </p:sp>
      <p:sp>
        <p:nvSpPr>
          <p:cNvPr id="35" name="Text 14"/>
          <p:cNvSpPr/>
          <p:nvPr/>
        </p:nvSpPr>
        <p:spPr>
          <a:xfrm>
            <a:off x="6248400" y="42672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--out_dir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Directory for experiment outputs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6248400" y="46101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--model_out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Path to save the trained model</a:t>
            </a:r>
            <a:endParaRPr lang="en-US" sz="1350" dirty="0"/>
          </a:p>
        </p:txBody>
      </p:sp>
      <p:sp>
        <p:nvSpPr>
          <p:cNvPr id="37" name="Text 16"/>
          <p:cNvSpPr/>
          <p:nvPr/>
        </p:nvSpPr>
        <p:spPr>
          <a:xfrm>
            <a:off x="6248400" y="49530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--sampling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Optional sampling parameters</a:t>
            </a:r>
            <a:endParaRPr lang="en-US" sz="1350" dirty="0"/>
          </a:p>
        </p:txBody>
      </p:sp>
      <p:sp>
        <p:nvSpPr>
          <p:cNvPr id="38" name="Text 17"/>
          <p:cNvSpPr/>
          <p:nvPr/>
        </p:nvSpPr>
        <p:spPr>
          <a:xfrm>
            <a:off x="6248400" y="52959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--seed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Random seed for reproducibility</a:t>
            </a:r>
            <a:endParaRPr lang="en-US" sz="1350" dirty="0"/>
          </a:p>
        </p:txBody>
      </p:sp>
      <p:sp>
        <p:nvSpPr>
          <p:cNvPr id="39" name="Text 18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of 17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47800"/>
            <a:ext cx="5562600" cy="4686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738"/>
            <a:ext cx="428625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21526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00338"/>
            <a:ext cx="428625" cy="428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3" y="27622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09938"/>
            <a:ext cx="428625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3" y="33718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447800"/>
            <a:ext cx="5562600" cy="468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057400"/>
            <a:ext cx="5181600" cy="80754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979241"/>
            <a:ext cx="5181600" cy="80754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901083"/>
            <a:ext cx="5181600" cy="80754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822924"/>
            <a:ext cx="5181600" cy="883741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Diagnostic and Validation Framework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571500" y="16383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Methods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1152525" y="2057400"/>
            <a:ext cx="48888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Permutation Importance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1152525" y="2324100"/>
            <a:ext cx="48888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Evaluates feature significance by randomizing values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1152525" y="2667000"/>
            <a:ext cx="45839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Sampled Cross-Validation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1152525" y="2933700"/>
            <a:ext cx="45839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5-fold CV on 100k rows: </a:t>
            </a:r>
            <a:r>
              <a:rPr lang="en-US" sz="12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0.99872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(std = 0.00019)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1152525" y="3276600"/>
            <a:ext cx="45687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Leakage Detection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1152525" y="3543300"/>
            <a:ext cx="54824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data leakage through mutual information analysis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438900" y="16383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Validation Results</a:t>
            </a:r>
            <a:endParaRPr lang="en-US" sz="1800" dirty="0"/>
          </a:p>
        </p:txBody>
      </p:sp>
      <p:sp>
        <p:nvSpPr>
          <p:cNvPr id="24" name="Text 9"/>
          <p:cNvSpPr/>
          <p:nvPr/>
        </p:nvSpPr>
        <p:spPr>
          <a:xfrm>
            <a:off x="6553200" y="2118271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Threshold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553200" y="2423071"/>
            <a:ext cx="4953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0.496</a:t>
            </a:r>
            <a:endParaRPr lang="en-US" sz="2250" dirty="0"/>
          </a:p>
        </p:txBody>
      </p:sp>
      <p:sp>
        <p:nvSpPr>
          <p:cNvPr id="26" name="Text 11"/>
          <p:cNvSpPr/>
          <p:nvPr/>
        </p:nvSpPr>
        <p:spPr>
          <a:xfrm>
            <a:off x="6553200" y="3040112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Accuracy</a:t>
            </a:r>
            <a:endParaRPr lang="en-US" sz="1500" dirty="0"/>
          </a:p>
        </p:txBody>
      </p:sp>
      <p:sp>
        <p:nvSpPr>
          <p:cNvPr id="27" name="Text 12"/>
          <p:cNvSpPr/>
          <p:nvPr/>
        </p:nvSpPr>
        <p:spPr>
          <a:xfrm>
            <a:off x="6057900" y="3344912"/>
            <a:ext cx="5943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0.99905</a:t>
            </a: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(≈ 99.9046%)</a:t>
            </a:r>
            <a:endParaRPr lang="en-US" sz="2250" dirty="0"/>
          </a:p>
        </p:txBody>
      </p:sp>
      <p:sp>
        <p:nvSpPr>
          <p:cNvPr id="28" name="Text 13"/>
          <p:cNvSpPr/>
          <p:nvPr/>
        </p:nvSpPr>
        <p:spPr>
          <a:xfrm>
            <a:off x="6553200" y="3961954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AUC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553200" y="4266754"/>
            <a:ext cx="4953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0.99996</a:t>
            </a:r>
            <a:endParaRPr lang="en-US" sz="2250" dirty="0"/>
          </a:p>
        </p:txBody>
      </p:sp>
      <p:sp>
        <p:nvSpPr>
          <p:cNvPr id="30" name="Text 15"/>
          <p:cNvSpPr/>
          <p:nvPr/>
        </p:nvSpPr>
        <p:spPr>
          <a:xfrm>
            <a:off x="6553200" y="4883795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31" name="Text 16"/>
          <p:cNvSpPr/>
          <p:nvPr/>
        </p:nvSpPr>
        <p:spPr>
          <a:xfrm>
            <a:off x="6774701" y="5188595"/>
            <a:ext cx="13514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TN: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250,691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6774701" y="5455295"/>
            <a:ext cx="13514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True Negatives</a:t>
            </a:r>
            <a:endParaRPr lang="en-US" sz="900" dirty="0"/>
          </a:p>
        </p:txBody>
      </p:sp>
      <p:sp>
        <p:nvSpPr>
          <p:cNvPr id="33" name="Text 18"/>
          <p:cNvSpPr/>
          <p:nvPr/>
        </p:nvSpPr>
        <p:spPr>
          <a:xfrm>
            <a:off x="8083555" y="5188595"/>
            <a:ext cx="988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FP: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234</a:t>
            </a:r>
            <a:endParaRPr lang="en-US" sz="1350" dirty="0"/>
          </a:p>
        </p:txBody>
      </p:sp>
      <p:sp>
        <p:nvSpPr>
          <p:cNvPr id="34" name="Text 19"/>
          <p:cNvSpPr/>
          <p:nvPr/>
        </p:nvSpPr>
        <p:spPr>
          <a:xfrm>
            <a:off x="8083555" y="5455295"/>
            <a:ext cx="9881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False Positives</a:t>
            </a:r>
            <a:endParaRPr lang="en-US" sz="900" dirty="0"/>
          </a:p>
        </p:txBody>
      </p:sp>
      <p:sp>
        <p:nvSpPr>
          <p:cNvPr id="35" name="Text 20"/>
          <p:cNvSpPr/>
          <p:nvPr/>
        </p:nvSpPr>
        <p:spPr>
          <a:xfrm>
            <a:off x="9052188" y="5188595"/>
            <a:ext cx="10749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FN: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83</a:t>
            </a:r>
            <a:endParaRPr lang="en-US" sz="1350" dirty="0"/>
          </a:p>
        </p:txBody>
      </p:sp>
      <p:sp>
        <p:nvSpPr>
          <p:cNvPr id="36" name="Text 21"/>
          <p:cNvSpPr/>
          <p:nvPr/>
        </p:nvSpPr>
        <p:spPr>
          <a:xfrm>
            <a:off x="9052188" y="5455295"/>
            <a:ext cx="107495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False Negatives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10091752" y="5188595"/>
            <a:ext cx="1178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TP: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81,161</a:t>
            </a:r>
            <a:endParaRPr lang="en-US" sz="1350" dirty="0"/>
          </a:p>
        </p:txBody>
      </p:sp>
      <p:sp>
        <p:nvSpPr>
          <p:cNvPr id="38" name="Text 23"/>
          <p:cNvSpPr/>
          <p:nvPr/>
        </p:nvSpPr>
        <p:spPr>
          <a:xfrm>
            <a:off x="10091752" y="5455295"/>
            <a:ext cx="11785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True Positives</a:t>
            </a:r>
            <a:endParaRPr lang="en-US" sz="900" dirty="0"/>
          </a:p>
        </p:txBody>
      </p:sp>
      <p:sp>
        <p:nvSpPr>
          <p:cNvPr id="39" name="Text 24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40" name="Text 25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10 of 17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600"/>
            <a:ext cx="5619750" cy="1562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485900"/>
            <a:ext cx="133350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17907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086100"/>
            <a:ext cx="561975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200400"/>
            <a:ext cx="1333500" cy="1333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3100" y="35052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800600"/>
            <a:ext cx="561975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5048250"/>
            <a:ext cx="5334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8" y="51816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49530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0" y="1371600"/>
            <a:ext cx="5619750" cy="1638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5550" y="15240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1270" y="1828800"/>
            <a:ext cx="2919710" cy="1066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0" y="3162300"/>
            <a:ext cx="561975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5550" y="3314700"/>
            <a:ext cx="190500" cy="1905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Metrics Excellence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808881" y="1981200"/>
            <a:ext cx="84760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2209800" y="1752600"/>
            <a:ext cx="21365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Accuracy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943100" y="2019300"/>
            <a:ext cx="21365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99.9046%</a:t>
            </a:r>
            <a:endParaRPr lang="en-US" sz="2250" dirty="0"/>
          </a:p>
        </p:txBody>
      </p:sp>
      <p:sp>
        <p:nvSpPr>
          <p:cNvPr id="22" name="Text 4"/>
          <p:cNvSpPr/>
          <p:nvPr/>
        </p:nvSpPr>
        <p:spPr>
          <a:xfrm>
            <a:off x="1943100" y="2362200"/>
            <a:ext cx="21365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Excellent classification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808881" y="3695700"/>
            <a:ext cx="84760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2209800" y="3467100"/>
            <a:ext cx="16668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AUC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943100" y="3733800"/>
            <a:ext cx="166681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99.996%</a:t>
            </a:r>
            <a:endParaRPr lang="en-US" sz="2250" dirty="0"/>
          </a:p>
        </p:txBody>
      </p:sp>
      <p:sp>
        <p:nvSpPr>
          <p:cNvPr id="26" name="Text 8"/>
          <p:cNvSpPr/>
          <p:nvPr/>
        </p:nvSpPr>
        <p:spPr>
          <a:xfrm>
            <a:off x="1943100" y="4076700"/>
            <a:ext cx="16668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Outstanding ranking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1409700" y="4914900"/>
            <a:ext cx="2258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Threshold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1143000" y="5181600"/>
            <a:ext cx="22586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0.496</a:t>
            </a:r>
            <a:endParaRPr lang="en-US" sz="2250" dirty="0"/>
          </a:p>
        </p:txBody>
      </p:sp>
      <p:sp>
        <p:nvSpPr>
          <p:cNvPr id="29" name="Text 11"/>
          <p:cNvSpPr/>
          <p:nvPr/>
        </p:nvSpPr>
        <p:spPr>
          <a:xfrm>
            <a:off x="1143000" y="5524500"/>
            <a:ext cx="22586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balance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6572250" y="1485900"/>
            <a:ext cx="539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494999" y="1905000"/>
            <a:ext cx="14696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8763908" y="1905000"/>
            <a:ext cx="9392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 0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9548872" y="1905000"/>
            <a:ext cx="911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 1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494999" y="2209800"/>
            <a:ext cx="14696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 Class 0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8763908" y="2209800"/>
            <a:ext cx="9392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250,691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9548872" y="2209800"/>
            <a:ext cx="911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234</a:t>
            </a:r>
            <a:endParaRPr lang="en-US" sz="1200" dirty="0"/>
          </a:p>
        </p:txBody>
      </p:sp>
      <p:sp>
        <p:nvSpPr>
          <p:cNvPr id="37" name="Text 19"/>
          <p:cNvSpPr/>
          <p:nvPr/>
        </p:nvSpPr>
        <p:spPr>
          <a:xfrm>
            <a:off x="7494999" y="2514600"/>
            <a:ext cx="14696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 Class 1</a:t>
            </a:r>
            <a:endParaRPr lang="en-US" sz="1200" dirty="0"/>
          </a:p>
        </p:txBody>
      </p:sp>
      <p:sp>
        <p:nvSpPr>
          <p:cNvPr id="38" name="Text 20"/>
          <p:cNvSpPr/>
          <p:nvPr/>
        </p:nvSpPr>
        <p:spPr>
          <a:xfrm>
            <a:off x="8842177" y="2514600"/>
            <a:ext cx="7826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83</a:t>
            </a:r>
            <a:endParaRPr lang="en-US" sz="1200" dirty="0"/>
          </a:p>
        </p:txBody>
      </p:sp>
      <p:sp>
        <p:nvSpPr>
          <p:cNvPr id="39" name="Text 21"/>
          <p:cNvSpPr/>
          <p:nvPr/>
        </p:nvSpPr>
        <p:spPr>
          <a:xfrm>
            <a:off x="9548872" y="2514600"/>
            <a:ext cx="911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81,161</a:t>
            </a:r>
            <a:endParaRPr lang="en-US" sz="1200" dirty="0"/>
          </a:p>
        </p:txBody>
      </p:sp>
      <p:sp>
        <p:nvSpPr>
          <p:cNvPr id="40" name="Text 22"/>
          <p:cNvSpPr/>
          <p:nvPr/>
        </p:nvSpPr>
        <p:spPr>
          <a:xfrm>
            <a:off x="6572250" y="3276600"/>
            <a:ext cx="539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Cross-Validation Score</a:t>
            </a:r>
            <a:endParaRPr lang="en-US" sz="1500" dirty="0"/>
          </a:p>
        </p:txBody>
      </p:sp>
      <p:sp>
        <p:nvSpPr>
          <p:cNvPr id="41" name="Text 23"/>
          <p:cNvSpPr/>
          <p:nvPr/>
        </p:nvSpPr>
        <p:spPr>
          <a:xfrm>
            <a:off x="7121932" y="3619500"/>
            <a:ext cx="3546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24"/>
          <p:cNvSpPr/>
          <p:nvPr/>
        </p:nvSpPr>
        <p:spPr>
          <a:xfrm>
            <a:off x="7121932" y="3924300"/>
            <a:ext cx="35468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Folds</a:t>
            </a:r>
            <a:endParaRPr lang="en-US" sz="900" dirty="0"/>
          </a:p>
        </p:txBody>
      </p:sp>
      <p:sp>
        <p:nvSpPr>
          <p:cNvPr id="43" name="Text 25"/>
          <p:cNvSpPr/>
          <p:nvPr/>
        </p:nvSpPr>
        <p:spPr>
          <a:xfrm>
            <a:off x="7610222" y="3619500"/>
            <a:ext cx="78527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100K</a:t>
            </a:r>
            <a:endParaRPr lang="en-US" sz="1800" dirty="0"/>
          </a:p>
        </p:txBody>
      </p:sp>
      <p:sp>
        <p:nvSpPr>
          <p:cNvPr id="44" name="Text 26"/>
          <p:cNvSpPr/>
          <p:nvPr/>
        </p:nvSpPr>
        <p:spPr>
          <a:xfrm>
            <a:off x="7610222" y="3924300"/>
            <a:ext cx="78527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Samples</a:t>
            </a:r>
            <a:endParaRPr lang="en-US" sz="900" dirty="0"/>
          </a:p>
        </p:txBody>
      </p:sp>
      <p:sp>
        <p:nvSpPr>
          <p:cNvPr id="45" name="Text 27"/>
          <p:cNvSpPr/>
          <p:nvPr/>
        </p:nvSpPr>
        <p:spPr>
          <a:xfrm>
            <a:off x="8447529" y="3619500"/>
            <a:ext cx="1333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99.872%</a:t>
            </a:r>
            <a:endParaRPr lang="en-US" sz="1800" dirty="0"/>
          </a:p>
        </p:txBody>
      </p:sp>
      <p:sp>
        <p:nvSpPr>
          <p:cNvPr id="46" name="Text 28"/>
          <p:cNvSpPr/>
          <p:nvPr/>
        </p:nvSpPr>
        <p:spPr>
          <a:xfrm>
            <a:off x="8447529" y="3924300"/>
            <a:ext cx="13335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Acc.</a:t>
            </a:r>
            <a:endParaRPr lang="en-US" sz="900" dirty="0"/>
          </a:p>
        </p:txBody>
      </p:sp>
      <p:sp>
        <p:nvSpPr>
          <p:cNvPr id="47" name="Text 29"/>
          <p:cNvSpPr/>
          <p:nvPr/>
        </p:nvSpPr>
        <p:spPr>
          <a:xfrm>
            <a:off x="9803338" y="3619500"/>
            <a:ext cx="114264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0.019%</a:t>
            </a:r>
            <a:endParaRPr lang="en-US" sz="1800" dirty="0"/>
          </a:p>
        </p:txBody>
      </p:sp>
      <p:sp>
        <p:nvSpPr>
          <p:cNvPr id="48" name="Text 30"/>
          <p:cNvSpPr/>
          <p:nvPr/>
        </p:nvSpPr>
        <p:spPr>
          <a:xfrm>
            <a:off x="9803338" y="3924300"/>
            <a:ext cx="114264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Std Dev.</a:t>
            </a:r>
            <a:endParaRPr lang="en-US" sz="900" dirty="0"/>
          </a:p>
        </p:txBody>
      </p:sp>
      <p:sp>
        <p:nvSpPr>
          <p:cNvPr id="49" name="Text 31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50" name="Text 32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11 of 17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600"/>
            <a:ext cx="5619750" cy="2286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002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95650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371600"/>
            <a:ext cx="5619750" cy="2286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160020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24003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950" y="2476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29337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30099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886200"/>
            <a:ext cx="11430000" cy="2552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114800"/>
            <a:ext cx="25717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495800"/>
            <a:ext cx="54483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6482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" y="47339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4495800"/>
            <a:ext cx="544830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46482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8425" y="4733925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48300"/>
            <a:ext cx="5448300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5600700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438" y="5686425"/>
            <a:ext cx="25717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5448300"/>
            <a:ext cx="5448300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600700"/>
            <a:ext cx="476250" cy="4762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4138" y="5686425"/>
            <a:ext cx="257175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Visualization and Analysis Tools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942975" y="1562100"/>
            <a:ext cx="6286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Visualization Notebook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571500" y="1981200"/>
            <a:ext cx="5238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Jupyter notebook for: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609600" y="2324100"/>
            <a:ext cx="6240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 sampled subsets and model artifacts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609600" y="2628900"/>
            <a:ext cx="6240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Plot class balance and feature distributions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609600" y="2933700"/>
            <a:ext cx="6240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Render correlation heatmaps and projections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742950" y="3276600"/>
            <a:ext cx="628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 </a:t>
            </a:r>
            <a:r>
              <a:rPr lang="en-US" sz="10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notebooks/visualization.ipynb</a:t>
            </a: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exploration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6781800" y="1562100"/>
            <a:ext cx="6286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Script-driven Exports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6381750" y="1981200"/>
            <a:ext cx="6286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scripts for CI-friendly exports: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6762750" y="2324100"/>
            <a:ext cx="49063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Non-interactive execution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6762750" y="2590800"/>
            <a:ext cx="49063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jupyter nbconvert --to notebook --execute visualization.ipynb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6762750" y="2857500"/>
            <a:ext cx="33995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 formats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6762750" y="3124200"/>
            <a:ext cx="3399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PNG/HTML figures exported to results/figs/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942975" y="40767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Supported Visualization Types</a:t>
            </a:r>
            <a:endParaRPr lang="en-US" sz="1800" dirty="0"/>
          </a:p>
        </p:txBody>
      </p:sp>
      <p:sp>
        <p:nvSpPr>
          <p:cNvPr id="40" name="Text 14"/>
          <p:cNvSpPr/>
          <p:nvPr/>
        </p:nvSpPr>
        <p:spPr>
          <a:xfrm>
            <a:off x="1352550" y="4648200"/>
            <a:ext cx="21156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 Balance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1352550" y="4953000"/>
            <a:ext cx="21156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Visualize class distribution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6953250" y="4648200"/>
            <a:ext cx="26910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Heatmap</a:t>
            </a:r>
            <a:endParaRPr lang="en-US" sz="1500" dirty="0"/>
          </a:p>
        </p:txBody>
      </p:sp>
      <p:sp>
        <p:nvSpPr>
          <p:cNvPr id="43" name="Text 17"/>
          <p:cNvSpPr/>
          <p:nvPr/>
        </p:nvSpPr>
        <p:spPr>
          <a:xfrm>
            <a:off x="6953250" y="4953000"/>
            <a:ext cx="269105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Display feature correlations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1352550" y="5600700"/>
            <a:ext cx="3160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Permutation Importance</a:t>
            </a:r>
            <a:endParaRPr lang="en-US" sz="1500" dirty="0"/>
          </a:p>
        </p:txBody>
      </p:sp>
      <p:sp>
        <p:nvSpPr>
          <p:cNvPr id="45" name="Text 19"/>
          <p:cNvSpPr/>
          <p:nvPr/>
        </p:nvSpPr>
        <p:spPr>
          <a:xfrm>
            <a:off x="1352550" y="5905500"/>
            <a:ext cx="3160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Rank features by importance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6953250" y="5600700"/>
            <a:ext cx="25917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SHAP Summary Plot</a:t>
            </a:r>
            <a:endParaRPr lang="en-US" sz="1500" dirty="0"/>
          </a:p>
        </p:txBody>
      </p:sp>
      <p:sp>
        <p:nvSpPr>
          <p:cNvPr id="47" name="Text 21"/>
          <p:cNvSpPr/>
          <p:nvPr/>
        </p:nvSpPr>
        <p:spPr>
          <a:xfrm>
            <a:off x="6953250" y="5905500"/>
            <a:ext cx="259175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 feature impacts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381000" y="65913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49" name="Text 23"/>
          <p:cNvSpPr/>
          <p:nvPr/>
        </p:nvSpPr>
        <p:spPr>
          <a:xfrm>
            <a:off x="10893028" y="65913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12 of 17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295400"/>
            <a:ext cx="115824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247900"/>
            <a:ext cx="11582400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38400"/>
            <a:ext cx="225549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2690" y="2438400"/>
            <a:ext cx="28194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090" y="2438400"/>
            <a:ext cx="225549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7580" y="2438400"/>
            <a:ext cx="394722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57500"/>
            <a:ext cx="11277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857500"/>
            <a:ext cx="225549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0765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12690" y="2857500"/>
            <a:ext cx="28194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090" y="2857500"/>
            <a:ext cx="225549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87580" y="2857500"/>
            <a:ext cx="394722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505200"/>
            <a:ext cx="2255490" cy="83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72427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12690" y="3505200"/>
            <a:ext cx="28194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2090" y="3505200"/>
            <a:ext cx="225549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7580" y="3505200"/>
            <a:ext cx="394722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4648200"/>
            <a:ext cx="1158240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4838700"/>
            <a:ext cx="14287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10540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54401" y="5105400"/>
            <a:ext cx="17145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1750" y="5105400"/>
            <a:ext cx="219075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304800"/>
            <a:ext cx="138988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Comparison and Selection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457200" y="14478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During development, several models were evaluated to identify the most suitable candidate for production deployment.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609600" y="24384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2865090" y="2438400"/>
            <a:ext cx="33832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Characteristics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5684490" y="24384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7939980" y="2438400"/>
            <a:ext cx="39472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Selection Status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38200" y="2857500"/>
            <a:ext cx="225549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CatBoost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2826990" y="2933700"/>
            <a:ext cx="2552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performance with categorical features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5684490" y="2933700"/>
            <a:ext cx="1950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accuracy: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99.9046%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5684490" y="3162300"/>
            <a:ext cx="1950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AUC: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0.99996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7939980" y="2952750"/>
            <a:ext cx="43709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Selected for production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939980" y="3181350"/>
            <a:ext cx="43709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balance of performance and reliability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838200" y="3505200"/>
            <a:ext cx="225549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LightGBM / XGBoost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2826990" y="3695700"/>
            <a:ext cx="2552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in Optuna tuning and stacking experiments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5684490" y="3581400"/>
            <a:ext cx="195069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Did not outperform CatBoost at chosen threshold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7939980" y="3714750"/>
            <a:ext cx="3642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selected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7939980" y="3943350"/>
            <a:ext cx="43709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AUC observed in some configs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676275" y="48006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Rationale for CatBoost Selection</a:t>
            </a:r>
            <a:endParaRPr lang="en-US" sz="1500" dirty="0"/>
          </a:p>
        </p:txBody>
      </p:sp>
      <p:sp>
        <p:nvSpPr>
          <p:cNvPr id="43" name="Text 18"/>
          <p:cNvSpPr/>
          <p:nvPr/>
        </p:nvSpPr>
        <p:spPr>
          <a:xfrm>
            <a:off x="723900" y="5105400"/>
            <a:ext cx="40608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Consistently High Metrics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723900" y="5334000"/>
            <a:ext cx="40608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Reproducible high accuracy across validation tests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4502051" y="5105400"/>
            <a:ext cx="343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Ease of Packaging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4502051" y="5334000"/>
            <a:ext cx="343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deployment into production environments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347025" y="5105400"/>
            <a:ext cx="38906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Inference Efficiency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8347025" y="5334000"/>
            <a:ext cx="38906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balance of performance and practicality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304800" y="63627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50" name="Text 25"/>
          <p:cNvSpPr/>
          <p:nvPr/>
        </p:nvSpPr>
        <p:spPr>
          <a:xfrm>
            <a:off x="10969228" y="63627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13 of 17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16261"/>
            <a:ext cx="5524500" cy="249465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61" y="1699022"/>
            <a:ext cx="476250" cy="47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61" y="1784747"/>
            <a:ext cx="1714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516261"/>
            <a:ext cx="5524500" cy="249465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061" y="1699022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311" y="1784747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711" y="2384822"/>
            <a:ext cx="3962400" cy="6000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239518"/>
            <a:ext cx="5524500" cy="17802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961" y="4422279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786" y="4508004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4239518"/>
            <a:ext cx="5524500" cy="17802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3061" y="4422279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6886" y="4508004"/>
            <a:ext cx="22860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 File Management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1268611" y="1699022"/>
            <a:ext cx="488471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 LFS Implementation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268611" y="2041922"/>
            <a:ext cx="48847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repository tracks large assets with Git LFS.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1306711" y="2384822"/>
            <a:ext cx="48389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Tracks combine.csv (dataset)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306711" y="2632472"/>
            <a:ext cx="48389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Tracks models/*.joblib (models)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306711" y="2880122"/>
            <a:ext cx="48389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Tracks data/processed/*.npz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7021711" y="1699022"/>
            <a:ext cx="4754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Collaboration Setup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7021711" y="2041922"/>
            <a:ext cx="4754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 cloning the repository, run: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7136011" y="2384822"/>
            <a:ext cx="39624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lfs install
git lfs pull</a:t>
            </a:r>
            <a:endParaRPr lang="en-US" sz="975" dirty="0"/>
          </a:p>
        </p:txBody>
      </p:sp>
      <p:sp>
        <p:nvSpPr>
          <p:cNvPr id="25" name="Text 9"/>
          <p:cNvSpPr/>
          <p:nvPr/>
        </p:nvSpPr>
        <p:spPr>
          <a:xfrm>
            <a:off x="7021711" y="3061097"/>
            <a:ext cx="4754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installs Git LFS and downloads large files.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1268611" y="4422279"/>
            <a:ext cx="39780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Usage Notes</a:t>
            </a:r>
            <a:endParaRPr lang="en-US" sz="1800" dirty="0"/>
          </a:p>
        </p:txBody>
      </p:sp>
      <p:sp>
        <p:nvSpPr>
          <p:cNvPr id="27" name="Text 11"/>
          <p:cNvSpPr/>
          <p:nvPr/>
        </p:nvSpPr>
        <p:spPr>
          <a:xfrm>
            <a:off x="1268611" y="4765179"/>
            <a:ext cx="47736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enforces LFS quotas. Monitor usage in: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1344811" y="5069979"/>
            <a:ext cx="46821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Repository Settings → Packages/LFS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7021711" y="4422279"/>
            <a:ext cx="432732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Troubleshooting</a:t>
            </a:r>
            <a:endParaRPr lang="en-US" sz="1800" dirty="0"/>
          </a:p>
        </p:txBody>
      </p:sp>
      <p:sp>
        <p:nvSpPr>
          <p:cNvPr id="30" name="Text 14"/>
          <p:cNvSpPr/>
          <p:nvPr/>
        </p:nvSpPr>
        <p:spPr>
          <a:xfrm>
            <a:off x="7059811" y="4765179"/>
            <a:ext cx="42816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"File exceeds 100 MB"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Ensure LFS installed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059811" y="5031879"/>
            <a:ext cx="42816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"LFS bandwidth exceeded"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Reduce usage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457200" y="62103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10816828" y="62103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14 of 17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33500"/>
            <a:ext cx="5619750" cy="2476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61" y="1516261"/>
            <a:ext cx="345430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77" y="1578173"/>
            <a:ext cx="1714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591" y="2453432"/>
            <a:ext cx="4756398" cy="92184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333500"/>
            <a:ext cx="5619750" cy="2476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011" y="1516261"/>
            <a:ext cx="426541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2982" y="1578173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2952" y="3021211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000500"/>
            <a:ext cx="5619750" cy="2209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761" y="4183261"/>
            <a:ext cx="428625" cy="428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773" y="4245173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4000500"/>
            <a:ext cx="5619750" cy="2209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4011" y="4183261"/>
            <a:ext cx="407343" cy="4286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595" y="4245173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3754" y="4853732"/>
            <a:ext cx="4694486" cy="38844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 Deployment Considerations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1061591" y="1516261"/>
            <a:ext cx="57076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Windows Compatibility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061591" y="1859161"/>
            <a:ext cx="475639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CatBoost on Windows, use the provided conda environment: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122462" y="2453432"/>
            <a:ext cx="4756398" cy="9218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conda env create -f environment-catboost.yml -n embereye
conda activate embereye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6952952" y="1516261"/>
            <a:ext cx="56103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CSV Header Validation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6952952" y="1859161"/>
            <a:ext cx="56103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Always confirm header names in your CSV files: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6991052" y="2163961"/>
            <a:ext cx="46371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Some CSVs may contain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leading/trailing whitespace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6991052" y="2716411"/>
            <a:ext cx="55646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Label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column is used for binary detection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7219652" y="3021211"/>
            <a:ext cx="29378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Verify target column naming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1144786" y="4183261"/>
            <a:ext cx="55492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Sampling Strategies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1144786" y="4526161"/>
            <a:ext cx="55492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large datasets, sampling is recommended: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1182886" y="4830961"/>
            <a:ext cx="55035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Many operations use </a:t>
            </a:r>
            <a:r>
              <a:rPr lang="en-US" sz="135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100k-200k rows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samples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1182886" y="5116711"/>
            <a:ext cx="55035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</a:t>
            </a:r>
            <a:r>
              <a:rPr lang="en-US" sz="1350" dirty="0">
                <a:solidFill>
                  <a:srgbClr val="FF4B4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--sample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flag in scripts for consistent sampling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6933754" y="4183261"/>
            <a:ext cx="469448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Persistence</a:t>
            </a:r>
            <a:endParaRPr lang="en-US" sz="1800" dirty="0"/>
          </a:p>
        </p:txBody>
      </p:sp>
      <p:sp>
        <p:nvSpPr>
          <p:cNvPr id="32" name="Text 14"/>
          <p:cNvSpPr/>
          <p:nvPr/>
        </p:nvSpPr>
        <p:spPr>
          <a:xfrm>
            <a:off x="6933754" y="4526161"/>
            <a:ext cx="56333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final model is saved as: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6994624" y="4853732"/>
            <a:ext cx="5633383" cy="388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models/final_detector.joblib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6933754" y="5303044"/>
            <a:ext cx="469448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file contains the complete production-ready detector</a:t>
            </a:r>
            <a:endParaRPr lang="en-US" sz="1350" dirty="0"/>
          </a:p>
        </p:txBody>
      </p:sp>
      <p:sp>
        <p:nvSpPr>
          <p:cNvPr id="35" name="Text 17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15 of 17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5524500" cy="13525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228600" cy="47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38325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00200"/>
            <a:ext cx="5524500" cy="1352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1752600"/>
            <a:ext cx="22860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1838325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181350"/>
            <a:ext cx="5524500" cy="1352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333750"/>
            <a:ext cx="235446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311" y="3419475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3181350"/>
            <a:ext cx="5524500" cy="13525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3333750"/>
            <a:ext cx="2857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3419475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762500"/>
            <a:ext cx="11277600" cy="1219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210175"/>
            <a:ext cx="219075" cy="2857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353312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Enhancements and Contributions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990600" y="1752600"/>
            <a:ext cx="5806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SHAP Analysis Expansion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990600" y="2095500"/>
            <a:ext cx="48387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SHAP TreeSHAP on sampled subsets (10-20k rows) to generate detailed feature contribution plots and save them to </a:t>
            </a:r>
            <a:r>
              <a:rPr lang="en-US" sz="12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results/figs/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6743700" y="1752600"/>
            <a:ext cx="5806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Comparison Tables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743700" y="2095500"/>
            <a:ext cx="48387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comprehensive per-model comparison tables by extracting metrics from </a:t>
            </a:r>
            <a:r>
              <a:rPr lang="en-US" sz="12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results/*.json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adding them to </a:t>
            </a:r>
            <a:r>
              <a:rPr lang="en-US" sz="1200" b="1" dirty="0">
                <a:solidFill>
                  <a:srgbClr val="00C89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README_FULL.md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997446" y="3333750"/>
            <a:ext cx="48318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CI/CD Integration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997446" y="3676650"/>
            <a:ext cx="483185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GitHub Actions smoke tests to validate model loading and perform tiny inference checks, ensuring ongoing model integrity.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6800850" y="3333750"/>
            <a:ext cx="5737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Community Contributions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800850" y="367665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Contributions welcome! Open an issue or submit a pull request with reproducible tests for any code changes.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057275" y="4991100"/>
            <a:ext cx="10448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Input Matters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057275" y="5295900"/>
            <a:ext cx="10448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suggest new features or improvements by opening an issue on the repository. The team welcomes your feedback to enhance EmberEye's capabilities.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457200" y="62103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10816828" y="62103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16 of 17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85900"/>
            <a:ext cx="11430000" cy="2362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3360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13360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575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8575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000500"/>
            <a:ext cx="370835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1750" y="4000500"/>
            <a:ext cx="370835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501" y="4000500"/>
            <a:ext cx="3708499" cy="11811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371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Impact and Conclusion</a:t>
            </a:r>
            <a:endParaRPr lang="en-US" sz="3600" dirty="0"/>
          </a:p>
        </p:txBody>
      </p:sp>
      <p:sp>
        <p:nvSpPr>
          <p:cNvPr id="13" name="Text 1"/>
          <p:cNvSpPr/>
          <p:nvPr/>
        </p:nvSpPr>
        <p:spPr>
          <a:xfrm>
            <a:off x="571500" y="16764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876300" y="20955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Exceptional Detection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876300" y="24003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99.9% accuracy with ROC AUC of 0.99996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6457950" y="20955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Production-Ready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6457950" y="2400300"/>
            <a:ext cx="5783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 CatBoost model packaged as final_detector.joblib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876300" y="28194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 Reproducibility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76300" y="31242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through CV, permutation importance, and leakage scans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6477000" y="2819400"/>
            <a:ext cx="48648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Framework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6477000" y="3124200"/>
            <a:ext cx="58378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inference tooling with reproducibility checklist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533400" y="4152900"/>
            <a:ext cx="3403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Accuracy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193045" y="4457700"/>
            <a:ext cx="40842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99.9046%</a:t>
            </a:r>
            <a:endParaRPr lang="en-US" sz="2250" dirty="0"/>
          </a:p>
        </p:txBody>
      </p:sp>
      <p:sp>
        <p:nvSpPr>
          <p:cNvPr id="24" name="Text 12"/>
          <p:cNvSpPr/>
          <p:nvPr/>
        </p:nvSpPr>
        <p:spPr>
          <a:xfrm>
            <a:off x="533400" y="48387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 test dataset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4394150" y="4152900"/>
            <a:ext cx="3403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ROC AUC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4053795" y="4457700"/>
            <a:ext cx="40842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0.99996</a:t>
            </a:r>
            <a:endParaRPr lang="en-US" sz="2250" dirty="0"/>
          </a:p>
        </p:txBody>
      </p:sp>
      <p:sp>
        <p:nvSpPr>
          <p:cNvPr id="27" name="Text 15"/>
          <p:cNvSpPr/>
          <p:nvPr/>
        </p:nvSpPr>
        <p:spPr>
          <a:xfrm>
            <a:off x="4053795" y="48387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highly accurate ranking</a:t>
            </a:r>
            <a:endParaRPr lang="en-US" sz="1050" dirty="0"/>
          </a:p>
        </p:txBody>
      </p:sp>
      <p:sp>
        <p:nvSpPr>
          <p:cNvPr id="28" name="Text 16"/>
          <p:cNvSpPr/>
          <p:nvPr/>
        </p:nvSpPr>
        <p:spPr>
          <a:xfrm>
            <a:off x="8254901" y="4152900"/>
            <a:ext cx="3403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Threshold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8254901" y="4457700"/>
            <a:ext cx="340369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0.496</a:t>
            </a:r>
            <a:endParaRPr lang="en-US" sz="2250" dirty="0"/>
          </a:p>
        </p:txBody>
      </p:sp>
      <p:sp>
        <p:nvSpPr>
          <p:cNvPr id="30" name="Text 18"/>
          <p:cNvSpPr/>
          <p:nvPr/>
        </p:nvSpPr>
        <p:spPr>
          <a:xfrm>
            <a:off x="7914531" y="4838700"/>
            <a:ext cx="40844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operating point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381000" y="6286500"/>
            <a:ext cx="48916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EmberEye: Production-Ready Network Traffic Binary Detector</a:t>
            </a: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17 of 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1731</Words>
  <Application>Microsoft Office PowerPoint</Application>
  <PresentationFormat>Widescreen</PresentationFormat>
  <Paragraphs>378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Poor Richard</vt:lpstr>
      <vt:lpstr>Pristina</vt:lpstr>
      <vt:lpstr>Roboto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Vignesh Lagishetty</cp:lastModifiedBy>
  <cp:revision>3</cp:revision>
  <dcterms:created xsi:type="dcterms:W3CDTF">2025-11-14T17:34:46Z</dcterms:created>
  <dcterms:modified xsi:type="dcterms:W3CDTF">2025-11-14T17:39:32Z</dcterms:modified>
</cp:coreProperties>
</file>